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7" d="100"/>
          <a:sy n="67" d="100"/>
        </p:scale>
        <p:origin x="83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Amount (INR bn)</c:v>
                </c:pt>
              </c:strCache>
            </c:strRef>
          </c:tx>
          <c:spPr>
            <a:solidFill>
              <a:srgbClr val="065A82"/>
            </a:solidFill>
            <a:effectLst/>
          </c:spPr>
          <c:invertIfNegative val="0"/>
          <c:dLbls>
            <c:numFmt formatCode="#,##0" sourceLinked="0"/>
            <c:spPr>
              <a:noFill/>
              <a:ln>
                <a:noFill/>
              </a:ln>
              <a:effectLst/>
            </c:spPr>
            <c:txPr>
              <a:bodyPr/>
              <a:lstStyle/>
              <a:p>
                <a:pPr>
                  <a:defRPr sz="800" b="0" i="0" u="none" strike="noStrike">
                    <a:solidFill>
                      <a:srgbClr val="2B3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26-35</c:v>
                </c:pt>
                <c:pt idx="1">
                  <c:v>36-45</c:v>
                </c:pt>
                <c:pt idx="2">
                  <c:v>18-25</c:v>
                </c:pt>
                <c:pt idx="3">
                  <c:v>46-55</c:v>
                </c:pt>
                <c:pt idx="4">
                  <c:v>56+</c:v>
                </c:pt>
              </c:strCache>
            </c:strRef>
          </c:cat>
          <c:val>
            <c:numRef>
              <c:f>Sheet1!$B$2:$B$6</c:f>
              <c:numCache>
                <c:formatCode>General</c:formatCode>
                <c:ptCount val="5"/>
                <c:pt idx="0">
                  <c:v>1.9</c:v>
                </c:pt>
                <c:pt idx="1">
                  <c:v>0.85</c:v>
                </c:pt>
                <c:pt idx="2">
                  <c:v>0.55000000000000004</c:v>
                </c:pt>
                <c:pt idx="3">
                  <c:v>0.35</c:v>
                </c:pt>
                <c:pt idx="4">
                  <c:v>0.25</c:v>
                </c:pt>
              </c:numCache>
            </c:numRef>
          </c:val>
          <c:extLst>
            <c:ext xmlns:c16="http://schemas.microsoft.com/office/drawing/2014/chart" uri="{C3380CC4-5D6E-409C-BE32-E72D297353CC}">
              <c16:uniqueId val="{00000000-480F-4FFC-BD38-E6D8DADAB09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6B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2714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262872" y="-1463040"/>
            <a:ext cx="4114800" cy="4114800"/>
          </a:xfrm>
          <a:prstGeom prst="ellipse">
            <a:avLst/>
          </a:prstGeom>
          <a:solidFill>
            <a:srgbClr val="065A82">
              <a:alpha val="45000"/>
            </a:srgbClr>
          </a:solidFill>
          <a:ln/>
        </p:spPr>
      </p:sp>
      <p:sp>
        <p:nvSpPr>
          <p:cNvPr id="3" name="Shape 1"/>
          <p:cNvSpPr/>
          <p:nvPr/>
        </p:nvSpPr>
        <p:spPr>
          <a:xfrm>
            <a:off x="-1645920" y="4480560"/>
            <a:ext cx="3840480" cy="3840480"/>
          </a:xfrm>
          <a:prstGeom prst="ellipse">
            <a:avLst/>
          </a:prstGeom>
          <a:solidFill>
            <a:srgbClr val="1C7293">
              <a:alpha val="40000"/>
            </a:srgbClr>
          </a:solidFill>
          <a:ln/>
        </p:spPr>
      </p:sp>
      <p:sp>
        <p:nvSpPr>
          <p:cNvPr id="4" name="Text 2"/>
          <p:cNvSpPr/>
          <p:nvPr/>
        </p:nvSpPr>
        <p:spPr>
          <a:xfrm>
            <a:off x="0" y="1965960"/>
            <a:ext cx="12188952" cy="365760"/>
          </a:xfrm>
          <a:prstGeom prst="rect">
            <a:avLst/>
          </a:prstGeom>
          <a:noFill/>
          <a:ln/>
        </p:spPr>
        <p:txBody>
          <a:bodyPr wrap="square" lIns="0" tIns="0" rIns="0" bIns="0" rtlCol="0" anchor="ctr"/>
          <a:lstStyle/>
          <a:p>
            <a:pPr marL="0" indent="0" algn="ctr">
              <a:buNone/>
            </a:pPr>
            <a:r>
              <a:rPr lang="en-US" sz="1400" b="1" kern="0" spc="400" dirty="0">
                <a:solidFill>
                  <a:srgbClr val="17A398"/>
                </a:solidFill>
                <a:latin typeface="Calibri" pitchFamily="34" charset="0"/>
                <a:ea typeface="Calibri" pitchFamily="34" charset="-122"/>
                <a:cs typeface="Calibri" pitchFamily="34" charset="-120"/>
              </a:rPr>
              <a:t>CAPSTONE PROJECT</a:t>
            </a:r>
            <a:endParaRPr lang="en-US" sz="1400" dirty="0"/>
          </a:p>
        </p:txBody>
      </p:sp>
      <p:sp>
        <p:nvSpPr>
          <p:cNvPr id="5" name="Text 3"/>
          <p:cNvSpPr/>
          <p:nvPr/>
        </p:nvSpPr>
        <p:spPr>
          <a:xfrm>
            <a:off x="731520" y="2377440"/>
            <a:ext cx="10725912" cy="118872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Mutual Fund Analytics</a:t>
            </a:r>
            <a:endParaRPr lang="en-US" sz="4600" dirty="0"/>
          </a:p>
        </p:txBody>
      </p:sp>
      <p:sp>
        <p:nvSpPr>
          <p:cNvPr id="6" name="Text 4"/>
          <p:cNvSpPr/>
          <p:nvPr/>
        </p:nvSpPr>
        <p:spPr>
          <a:xfrm>
            <a:off x="731520" y="3520440"/>
            <a:ext cx="10725912" cy="502920"/>
          </a:xfrm>
          <a:prstGeom prst="rect">
            <a:avLst/>
          </a:prstGeom>
          <a:noFill/>
          <a:ln/>
        </p:spPr>
        <p:txBody>
          <a:bodyPr wrap="square" lIns="0" tIns="0" rIns="0" bIns="0" rtlCol="0" anchor="ctr"/>
          <a:lstStyle/>
          <a:p>
            <a:pPr marL="0" indent="0" algn="ctr">
              <a:buNone/>
            </a:pPr>
            <a:r>
              <a:rPr lang="en-US" sz="2000" b="1" dirty="0">
                <a:solidFill>
                  <a:srgbClr val="BFD7E6"/>
                </a:solidFill>
                <a:latin typeface="Calibri" pitchFamily="34" charset="0"/>
                <a:ea typeface="Calibri" pitchFamily="34" charset="-122"/>
                <a:cs typeface="Calibri" pitchFamily="34" charset="-120"/>
              </a:rPr>
              <a:t>Bluestock FinTech Internship</a:t>
            </a:r>
            <a:endParaRPr lang="en-US" sz="2000" dirty="0"/>
          </a:p>
        </p:txBody>
      </p:sp>
      <p:sp>
        <p:nvSpPr>
          <p:cNvPr id="7" name="Shape 5"/>
          <p:cNvSpPr/>
          <p:nvPr/>
        </p:nvSpPr>
        <p:spPr>
          <a:xfrm>
            <a:off x="6057900" y="4160520"/>
            <a:ext cx="73152" cy="73152"/>
          </a:xfrm>
          <a:prstGeom prst="ellipse">
            <a:avLst/>
          </a:prstGeom>
          <a:solidFill>
            <a:srgbClr val="17A398"/>
          </a:solidFill>
          <a:ln/>
        </p:spPr>
      </p:sp>
      <p:sp>
        <p:nvSpPr>
          <p:cNvPr id="8" name="Text 6"/>
          <p:cNvSpPr/>
          <p:nvPr/>
        </p:nvSpPr>
        <p:spPr>
          <a:xfrm>
            <a:off x="731520" y="4434840"/>
            <a:ext cx="10725912" cy="320040"/>
          </a:xfrm>
          <a:prstGeom prst="rect">
            <a:avLst/>
          </a:prstGeom>
          <a:noFill/>
          <a:ln/>
        </p:spPr>
        <p:txBody>
          <a:bodyPr wrap="square" lIns="0" tIns="0" rIns="0" bIns="0" rtlCol="0" anchor="ctr"/>
          <a:lstStyle/>
          <a:p>
            <a:pPr marL="0" indent="0" algn="ctr">
              <a:buNone/>
            </a:pPr>
            <a:r>
              <a:rPr lang="en-US" sz="1400" dirty="0">
                <a:solidFill>
                  <a:srgbClr val="E6EEF3"/>
                </a:solidFill>
                <a:latin typeface="Calibri" pitchFamily="34" charset="0"/>
                <a:ea typeface="Calibri" pitchFamily="34" charset="-122"/>
                <a:cs typeface="Calibri" pitchFamily="34" charset="-120"/>
              </a:rPr>
              <a:t>Student: ALLA LOKESH</a:t>
            </a:r>
            <a:endParaRPr lang="en-US" sz="1400" dirty="0"/>
          </a:p>
        </p:txBody>
      </p:sp>
      <p:sp>
        <p:nvSpPr>
          <p:cNvPr id="9" name="Text 7"/>
          <p:cNvSpPr/>
          <p:nvPr/>
        </p:nvSpPr>
        <p:spPr>
          <a:xfrm>
            <a:off x="731520" y="4754880"/>
            <a:ext cx="10725912" cy="320040"/>
          </a:xfrm>
          <a:prstGeom prst="rect">
            <a:avLst/>
          </a:prstGeom>
          <a:noFill/>
          <a:ln/>
        </p:spPr>
        <p:txBody>
          <a:bodyPr wrap="square" lIns="0" tIns="0" rIns="0" bIns="0" rtlCol="0" anchor="ctr"/>
          <a:lstStyle/>
          <a:p>
            <a:pPr marL="0" indent="0" algn="ctr">
              <a:buNone/>
            </a:pPr>
            <a:r>
              <a:rPr lang="en-US" sz="1400" dirty="0">
                <a:solidFill>
                  <a:srgbClr val="E6EEF3"/>
                </a:solidFill>
                <a:latin typeface="Calibri" pitchFamily="34" charset="0"/>
                <a:ea typeface="Calibri" pitchFamily="34" charset="-122"/>
                <a:cs typeface="Calibri" pitchFamily="34" charset="-120"/>
              </a:rPr>
              <a:t>College: Ellenki College of Engineering and Technology</a:t>
            </a:r>
            <a:endParaRPr lang="en-US" sz="1400" dirty="0"/>
          </a:p>
        </p:txBody>
      </p:sp>
      <p:sp>
        <p:nvSpPr>
          <p:cNvPr id="10" name="Text 8"/>
          <p:cNvSpPr/>
          <p:nvPr/>
        </p:nvSpPr>
        <p:spPr>
          <a:xfrm>
            <a:off x="731520" y="5074920"/>
            <a:ext cx="10725912" cy="320040"/>
          </a:xfrm>
          <a:prstGeom prst="rect">
            <a:avLst/>
          </a:prstGeom>
          <a:noFill/>
          <a:ln/>
        </p:spPr>
        <p:txBody>
          <a:bodyPr wrap="square" lIns="0" tIns="0" rIns="0" bIns="0" rtlCol="0" anchor="ctr"/>
          <a:lstStyle/>
          <a:p>
            <a:pPr marL="0" indent="0" algn="ctr">
              <a:buNone/>
            </a:pPr>
            <a:r>
              <a:rPr lang="en-US" sz="1400" dirty="0">
                <a:solidFill>
                  <a:srgbClr val="E6EEF3"/>
                </a:solidFill>
                <a:latin typeface="Calibri" pitchFamily="34" charset="0"/>
                <a:ea typeface="Calibri" pitchFamily="34" charset="-122"/>
                <a:cs typeface="Calibri" pitchFamily="34" charset="-120"/>
              </a:rPr>
              <a:t>Department: CSE (AI &amp; ML)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822960"/>
          </a:xfrm>
          <a:prstGeom prst="rect">
            <a:avLst/>
          </a:prstGeom>
          <a:noFill/>
          <a:ln/>
        </p:spPr>
        <p:txBody>
          <a:bodyPr wrap="square" lIns="0" tIns="0" rIns="0" bIns="0" rtlCol="0" anchor="ctr"/>
          <a:lstStyle/>
          <a:p>
            <a:pPr marL="0" indent="0" algn="l">
              <a:buNone/>
            </a:pPr>
            <a:r>
              <a:rPr lang="en-US" sz="3200" b="1" dirty="0">
                <a:solidFill>
                  <a:srgbClr val="0B2545"/>
                </a:solidFill>
                <a:latin typeface="Cambria" pitchFamily="34" charset="0"/>
                <a:ea typeface="Cambria" pitchFamily="34" charset="-122"/>
                <a:cs typeface="Cambria" pitchFamily="34" charset="-120"/>
              </a:rPr>
              <a:t>Table of Contents</a:t>
            </a:r>
            <a:endParaRPr lang="en-US" sz="3200" dirty="0"/>
          </a:p>
        </p:txBody>
      </p:sp>
      <p:sp>
        <p:nvSpPr>
          <p:cNvPr id="3" name="Text 1"/>
          <p:cNvSpPr/>
          <p:nvPr/>
        </p:nvSpPr>
        <p:spPr>
          <a:xfrm>
            <a:off x="640080" y="1691640"/>
            <a:ext cx="502920" cy="457200"/>
          </a:xfrm>
          <a:prstGeom prst="rect">
            <a:avLst/>
          </a:prstGeom>
          <a:noFill/>
          <a:ln/>
        </p:spPr>
        <p:txBody>
          <a:bodyPr wrap="square" lIns="0" tIns="0" rIns="0" bIns="0" rtlCol="0" anchor="ctr"/>
          <a:lstStyle/>
          <a:p>
            <a:pPr marL="0" indent="0">
              <a:buNone/>
            </a:pPr>
            <a:r>
              <a:rPr lang="en-US" sz="1600" b="1" dirty="0">
                <a:solidFill>
                  <a:srgbClr val="17A398"/>
                </a:solidFill>
                <a:latin typeface="Cambria" pitchFamily="34" charset="0"/>
                <a:ea typeface="Cambria" pitchFamily="34" charset="-122"/>
                <a:cs typeface="Cambria" pitchFamily="34" charset="-120"/>
              </a:rPr>
              <a:t>01</a:t>
            </a:r>
            <a:endParaRPr lang="en-US" sz="1600" dirty="0"/>
          </a:p>
        </p:txBody>
      </p:sp>
      <p:sp>
        <p:nvSpPr>
          <p:cNvPr id="4" name="Text 2"/>
          <p:cNvSpPr/>
          <p:nvPr/>
        </p:nvSpPr>
        <p:spPr>
          <a:xfrm>
            <a:off x="1234440" y="1691640"/>
            <a:ext cx="4585716" cy="457200"/>
          </a:xfrm>
          <a:prstGeom prst="rect">
            <a:avLst/>
          </a:prstGeom>
          <a:noFill/>
          <a:ln/>
        </p:spPr>
        <p:txBody>
          <a:bodyPr wrap="square" lIns="0" tIns="0" rIns="0" bIns="0" rtlCol="0" anchor="ctr"/>
          <a:lstStyle/>
          <a:p>
            <a:pPr marL="0" indent="0">
              <a:buNone/>
            </a:pPr>
            <a:r>
              <a:rPr lang="en-US" sz="1600" dirty="0">
                <a:solidFill>
                  <a:srgbClr val="2B3A4A"/>
                </a:solidFill>
                <a:latin typeface="Calibri" pitchFamily="34" charset="0"/>
                <a:ea typeface="Calibri" pitchFamily="34" charset="-122"/>
                <a:cs typeface="Calibri" pitchFamily="34" charset="-120"/>
              </a:rPr>
              <a:t>Project Overview</a:t>
            </a:r>
            <a:endParaRPr lang="en-US" sz="1600" dirty="0"/>
          </a:p>
        </p:txBody>
      </p:sp>
      <p:sp>
        <p:nvSpPr>
          <p:cNvPr id="5" name="Text 3"/>
          <p:cNvSpPr/>
          <p:nvPr/>
        </p:nvSpPr>
        <p:spPr>
          <a:xfrm>
            <a:off x="640080" y="2258568"/>
            <a:ext cx="502920" cy="457200"/>
          </a:xfrm>
          <a:prstGeom prst="rect">
            <a:avLst/>
          </a:prstGeom>
          <a:noFill/>
          <a:ln/>
        </p:spPr>
        <p:txBody>
          <a:bodyPr wrap="square" lIns="0" tIns="0" rIns="0" bIns="0" rtlCol="0" anchor="ctr"/>
          <a:lstStyle/>
          <a:p>
            <a:pPr marL="0" indent="0">
              <a:buNone/>
            </a:pPr>
            <a:r>
              <a:rPr lang="en-US" sz="1600" b="1" dirty="0">
                <a:solidFill>
                  <a:srgbClr val="17A398"/>
                </a:solidFill>
                <a:latin typeface="Cambria" pitchFamily="34" charset="0"/>
                <a:ea typeface="Cambria" pitchFamily="34" charset="-122"/>
                <a:cs typeface="Cambria" pitchFamily="34" charset="-120"/>
              </a:rPr>
              <a:t>02</a:t>
            </a:r>
            <a:endParaRPr lang="en-US" sz="1600" dirty="0"/>
          </a:p>
        </p:txBody>
      </p:sp>
      <p:sp>
        <p:nvSpPr>
          <p:cNvPr id="6" name="Text 4"/>
          <p:cNvSpPr/>
          <p:nvPr/>
        </p:nvSpPr>
        <p:spPr>
          <a:xfrm>
            <a:off x="1234440" y="2258568"/>
            <a:ext cx="4585716" cy="457200"/>
          </a:xfrm>
          <a:prstGeom prst="rect">
            <a:avLst/>
          </a:prstGeom>
          <a:noFill/>
          <a:ln/>
        </p:spPr>
        <p:txBody>
          <a:bodyPr wrap="square" lIns="0" tIns="0" rIns="0" bIns="0" rtlCol="0" anchor="ctr"/>
          <a:lstStyle/>
          <a:p>
            <a:pPr marL="0" indent="0">
              <a:buNone/>
            </a:pPr>
            <a:r>
              <a:rPr lang="en-US" sz="1600" dirty="0">
                <a:solidFill>
                  <a:srgbClr val="2B3A4A"/>
                </a:solidFill>
                <a:latin typeface="Calibri" pitchFamily="34" charset="0"/>
                <a:ea typeface="Calibri" pitchFamily="34" charset="-122"/>
                <a:cs typeface="Calibri" pitchFamily="34" charset="-120"/>
              </a:rPr>
              <a:t>Problem Statement</a:t>
            </a:r>
            <a:endParaRPr lang="en-US" sz="1600" dirty="0"/>
          </a:p>
        </p:txBody>
      </p:sp>
      <p:sp>
        <p:nvSpPr>
          <p:cNvPr id="7" name="Text 5"/>
          <p:cNvSpPr/>
          <p:nvPr/>
        </p:nvSpPr>
        <p:spPr>
          <a:xfrm>
            <a:off x="640080" y="2825496"/>
            <a:ext cx="502920" cy="457200"/>
          </a:xfrm>
          <a:prstGeom prst="rect">
            <a:avLst/>
          </a:prstGeom>
          <a:noFill/>
          <a:ln/>
        </p:spPr>
        <p:txBody>
          <a:bodyPr wrap="square" lIns="0" tIns="0" rIns="0" bIns="0" rtlCol="0" anchor="ctr"/>
          <a:lstStyle/>
          <a:p>
            <a:pPr marL="0" indent="0">
              <a:buNone/>
            </a:pPr>
            <a:r>
              <a:rPr lang="en-US" sz="1600" b="1" dirty="0">
                <a:solidFill>
                  <a:srgbClr val="17A398"/>
                </a:solidFill>
                <a:latin typeface="Cambria" pitchFamily="34" charset="0"/>
                <a:ea typeface="Cambria" pitchFamily="34" charset="-122"/>
                <a:cs typeface="Cambria" pitchFamily="34" charset="-120"/>
              </a:rPr>
              <a:t>03</a:t>
            </a:r>
            <a:endParaRPr lang="en-US" sz="1600" dirty="0"/>
          </a:p>
        </p:txBody>
      </p:sp>
      <p:sp>
        <p:nvSpPr>
          <p:cNvPr id="8" name="Text 6"/>
          <p:cNvSpPr/>
          <p:nvPr/>
        </p:nvSpPr>
        <p:spPr>
          <a:xfrm>
            <a:off x="1234440" y="2825496"/>
            <a:ext cx="4585716" cy="457200"/>
          </a:xfrm>
          <a:prstGeom prst="rect">
            <a:avLst/>
          </a:prstGeom>
          <a:noFill/>
          <a:ln/>
        </p:spPr>
        <p:txBody>
          <a:bodyPr wrap="square" lIns="0" tIns="0" rIns="0" bIns="0" rtlCol="0" anchor="ctr"/>
          <a:lstStyle/>
          <a:p>
            <a:pPr marL="0" indent="0">
              <a:buNone/>
            </a:pPr>
            <a:r>
              <a:rPr lang="en-US" sz="1600" dirty="0">
                <a:solidFill>
                  <a:srgbClr val="2B3A4A"/>
                </a:solidFill>
                <a:latin typeface="Calibri" pitchFamily="34" charset="0"/>
                <a:ea typeface="Calibri" pitchFamily="34" charset="-122"/>
                <a:cs typeface="Calibri" pitchFamily="34" charset="-120"/>
              </a:rPr>
              <a:t>Objectives</a:t>
            </a:r>
            <a:endParaRPr lang="en-US" sz="1600" dirty="0"/>
          </a:p>
        </p:txBody>
      </p:sp>
      <p:sp>
        <p:nvSpPr>
          <p:cNvPr id="9" name="Text 7"/>
          <p:cNvSpPr/>
          <p:nvPr/>
        </p:nvSpPr>
        <p:spPr>
          <a:xfrm>
            <a:off x="640080" y="3392424"/>
            <a:ext cx="502920" cy="457200"/>
          </a:xfrm>
          <a:prstGeom prst="rect">
            <a:avLst/>
          </a:prstGeom>
          <a:noFill/>
          <a:ln/>
        </p:spPr>
        <p:txBody>
          <a:bodyPr wrap="square" lIns="0" tIns="0" rIns="0" bIns="0" rtlCol="0" anchor="ctr"/>
          <a:lstStyle/>
          <a:p>
            <a:pPr marL="0" indent="0">
              <a:buNone/>
            </a:pPr>
            <a:r>
              <a:rPr lang="en-US" sz="1600" b="1" dirty="0">
                <a:solidFill>
                  <a:srgbClr val="17A398"/>
                </a:solidFill>
                <a:latin typeface="Cambria" pitchFamily="34" charset="0"/>
                <a:ea typeface="Cambria" pitchFamily="34" charset="-122"/>
                <a:cs typeface="Cambria" pitchFamily="34" charset="-120"/>
              </a:rPr>
              <a:t>04</a:t>
            </a:r>
            <a:endParaRPr lang="en-US" sz="1600" dirty="0"/>
          </a:p>
        </p:txBody>
      </p:sp>
      <p:sp>
        <p:nvSpPr>
          <p:cNvPr id="10" name="Text 8"/>
          <p:cNvSpPr/>
          <p:nvPr/>
        </p:nvSpPr>
        <p:spPr>
          <a:xfrm>
            <a:off x="1234440" y="3392424"/>
            <a:ext cx="4585716" cy="457200"/>
          </a:xfrm>
          <a:prstGeom prst="rect">
            <a:avLst/>
          </a:prstGeom>
          <a:noFill/>
          <a:ln/>
        </p:spPr>
        <p:txBody>
          <a:bodyPr wrap="square" lIns="0" tIns="0" rIns="0" bIns="0" rtlCol="0" anchor="ctr"/>
          <a:lstStyle/>
          <a:p>
            <a:pPr marL="0" indent="0">
              <a:buNone/>
            </a:pPr>
            <a:r>
              <a:rPr lang="en-US" sz="1600" dirty="0">
                <a:solidFill>
                  <a:srgbClr val="2B3A4A"/>
                </a:solidFill>
                <a:latin typeface="Calibri" pitchFamily="34" charset="0"/>
                <a:ea typeface="Calibri" pitchFamily="34" charset="-122"/>
                <a:cs typeface="Calibri" pitchFamily="34" charset="-120"/>
              </a:rPr>
              <a:t>Tools &amp; Technologies</a:t>
            </a:r>
            <a:endParaRPr lang="en-US" sz="1600" dirty="0"/>
          </a:p>
        </p:txBody>
      </p:sp>
      <p:sp>
        <p:nvSpPr>
          <p:cNvPr id="11" name="Text 9"/>
          <p:cNvSpPr/>
          <p:nvPr/>
        </p:nvSpPr>
        <p:spPr>
          <a:xfrm>
            <a:off x="640080" y="3959352"/>
            <a:ext cx="502920" cy="457200"/>
          </a:xfrm>
          <a:prstGeom prst="rect">
            <a:avLst/>
          </a:prstGeom>
          <a:noFill/>
          <a:ln/>
        </p:spPr>
        <p:txBody>
          <a:bodyPr wrap="square" lIns="0" tIns="0" rIns="0" bIns="0" rtlCol="0" anchor="ctr"/>
          <a:lstStyle/>
          <a:p>
            <a:pPr marL="0" indent="0">
              <a:buNone/>
            </a:pPr>
            <a:r>
              <a:rPr lang="en-US" sz="1600" b="1" dirty="0">
                <a:solidFill>
                  <a:srgbClr val="17A398"/>
                </a:solidFill>
                <a:latin typeface="Cambria" pitchFamily="34" charset="0"/>
                <a:ea typeface="Cambria" pitchFamily="34" charset="-122"/>
                <a:cs typeface="Cambria" pitchFamily="34" charset="-120"/>
              </a:rPr>
              <a:t>05</a:t>
            </a:r>
            <a:endParaRPr lang="en-US" sz="1600" dirty="0"/>
          </a:p>
        </p:txBody>
      </p:sp>
      <p:sp>
        <p:nvSpPr>
          <p:cNvPr id="12" name="Text 10"/>
          <p:cNvSpPr/>
          <p:nvPr/>
        </p:nvSpPr>
        <p:spPr>
          <a:xfrm>
            <a:off x="1234440" y="3959352"/>
            <a:ext cx="4585716" cy="457200"/>
          </a:xfrm>
          <a:prstGeom prst="rect">
            <a:avLst/>
          </a:prstGeom>
          <a:noFill/>
          <a:ln/>
        </p:spPr>
        <p:txBody>
          <a:bodyPr wrap="square" lIns="0" tIns="0" rIns="0" bIns="0" rtlCol="0" anchor="ctr"/>
          <a:lstStyle/>
          <a:p>
            <a:pPr marL="0" indent="0">
              <a:buNone/>
            </a:pPr>
            <a:r>
              <a:rPr lang="en-US" sz="1600" dirty="0">
                <a:solidFill>
                  <a:srgbClr val="2B3A4A"/>
                </a:solidFill>
                <a:latin typeface="Calibri" pitchFamily="34" charset="0"/>
                <a:ea typeface="Calibri" pitchFamily="34" charset="-122"/>
                <a:cs typeface="Calibri" pitchFamily="34" charset="-120"/>
              </a:rPr>
              <a:t>Project Workflow</a:t>
            </a:r>
            <a:endParaRPr lang="en-US" sz="1600" dirty="0"/>
          </a:p>
        </p:txBody>
      </p:sp>
      <p:sp>
        <p:nvSpPr>
          <p:cNvPr id="13" name="Text 11"/>
          <p:cNvSpPr/>
          <p:nvPr/>
        </p:nvSpPr>
        <p:spPr>
          <a:xfrm>
            <a:off x="640080" y="4526280"/>
            <a:ext cx="502920" cy="457200"/>
          </a:xfrm>
          <a:prstGeom prst="rect">
            <a:avLst/>
          </a:prstGeom>
          <a:noFill/>
          <a:ln/>
        </p:spPr>
        <p:txBody>
          <a:bodyPr wrap="square" lIns="0" tIns="0" rIns="0" bIns="0" rtlCol="0" anchor="ctr"/>
          <a:lstStyle/>
          <a:p>
            <a:pPr marL="0" indent="0">
              <a:buNone/>
            </a:pPr>
            <a:r>
              <a:rPr lang="en-US" sz="1600" b="1" dirty="0">
                <a:solidFill>
                  <a:srgbClr val="17A398"/>
                </a:solidFill>
                <a:latin typeface="Cambria" pitchFamily="34" charset="0"/>
                <a:ea typeface="Cambria" pitchFamily="34" charset="-122"/>
                <a:cs typeface="Cambria" pitchFamily="34" charset="-120"/>
              </a:rPr>
              <a:t>06</a:t>
            </a:r>
            <a:endParaRPr lang="en-US" sz="1600" dirty="0"/>
          </a:p>
        </p:txBody>
      </p:sp>
      <p:sp>
        <p:nvSpPr>
          <p:cNvPr id="14" name="Text 12"/>
          <p:cNvSpPr/>
          <p:nvPr/>
        </p:nvSpPr>
        <p:spPr>
          <a:xfrm>
            <a:off x="1234440" y="4526280"/>
            <a:ext cx="4585716" cy="457200"/>
          </a:xfrm>
          <a:prstGeom prst="rect">
            <a:avLst/>
          </a:prstGeom>
          <a:noFill/>
          <a:ln/>
        </p:spPr>
        <p:txBody>
          <a:bodyPr wrap="square" lIns="0" tIns="0" rIns="0" bIns="0" rtlCol="0" anchor="ctr"/>
          <a:lstStyle/>
          <a:p>
            <a:pPr marL="0" indent="0">
              <a:buNone/>
            </a:pPr>
            <a:r>
              <a:rPr lang="en-US" sz="1600" dirty="0">
                <a:solidFill>
                  <a:srgbClr val="2B3A4A"/>
                </a:solidFill>
                <a:latin typeface="Calibri" pitchFamily="34" charset="0"/>
                <a:ea typeface="Calibri" pitchFamily="34" charset="-122"/>
                <a:cs typeface="Calibri" pitchFamily="34" charset="-120"/>
              </a:rPr>
              <a:t>Dataset Description</a:t>
            </a:r>
            <a:endParaRPr lang="en-US" sz="1600" dirty="0"/>
          </a:p>
        </p:txBody>
      </p:sp>
      <p:sp>
        <p:nvSpPr>
          <p:cNvPr id="15" name="Text 13"/>
          <p:cNvSpPr/>
          <p:nvPr/>
        </p:nvSpPr>
        <p:spPr>
          <a:xfrm>
            <a:off x="6368796" y="1691640"/>
            <a:ext cx="502920" cy="457200"/>
          </a:xfrm>
          <a:prstGeom prst="rect">
            <a:avLst/>
          </a:prstGeom>
          <a:noFill/>
          <a:ln/>
        </p:spPr>
        <p:txBody>
          <a:bodyPr wrap="square" lIns="0" tIns="0" rIns="0" bIns="0" rtlCol="0" anchor="ctr"/>
          <a:lstStyle/>
          <a:p>
            <a:pPr marL="0" indent="0">
              <a:buNone/>
            </a:pPr>
            <a:r>
              <a:rPr lang="en-US" sz="1600" b="1" dirty="0">
                <a:solidFill>
                  <a:srgbClr val="17A398"/>
                </a:solidFill>
                <a:latin typeface="Cambria" pitchFamily="34" charset="0"/>
                <a:ea typeface="Cambria" pitchFamily="34" charset="-122"/>
                <a:cs typeface="Cambria" pitchFamily="34" charset="-120"/>
              </a:rPr>
              <a:t>07</a:t>
            </a:r>
            <a:endParaRPr lang="en-US" sz="1600" dirty="0"/>
          </a:p>
        </p:txBody>
      </p:sp>
      <p:sp>
        <p:nvSpPr>
          <p:cNvPr id="16" name="Text 14"/>
          <p:cNvSpPr/>
          <p:nvPr/>
        </p:nvSpPr>
        <p:spPr>
          <a:xfrm>
            <a:off x="6963156" y="1691640"/>
            <a:ext cx="4585716" cy="457200"/>
          </a:xfrm>
          <a:prstGeom prst="rect">
            <a:avLst/>
          </a:prstGeom>
          <a:noFill/>
          <a:ln/>
        </p:spPr>
        <p:txBody>
          <a:bodyPr wrap="square" lIns="0" tIns="0" rIns="0" bIns="0" rtlCol="0" anchor="ctr"/>
          <a:lstStyle/>
          <a:p>
            <a:pPr marL="0" indent="0">
              <a:buNone/>
            </a:pPr>
            <a:r>
              <a:rPr lang="en-US" sz="1600" dirty="0">
                <a:solidFill>
                  <a:srgbClr val="2B3A4A"/>
                </a:solidFill>
                <a:latin typeface="Calibri" pitchFamily="34" charset="0"/>
                <a:ea typeface="Calibri" pitchFamily="34" charset="-122"/>
                <a:cs typeface="Calibri" pitchFamily="34" charset="-120"/>
              </a:rPr>
              <a:t>Project Setup</a:t>
            </a:r>
            <a:endParaRPr lang="en-US" sz="1600" dirty="0"/>
          </a:p>
        </p:txBody>
      </p:sp>
      <p:sp>
        <p:nvSpPr>
          <p:cNvPr id="17" name="Text 15"/>
          <p:cNvSpPr/>
          <p:nvPr/>
        </p:nvSpPr>
        <p:spPr>
          <a:xfrm>
            <a:off x="6368796" y="2258568"/>
            <a:ext cx="502920" cy="457200"/>
          </a:xfrm>
          <a:prstGeom prst="rect">
            <a:avLst/>
          </a:prstGeom>
          <a:noFill/>
          <a:ln/>
        </p:spPr>
        <p:txBody>
          <a:bodyPr wrap="square" lIns="0" tIns="0" rIns="0" bIns="0" rtlCol="0" anchor="ctr"/>
          <a:lstStyle/>
          <a:p>
            <a:pPr marL="0" indent="0">
              <a:buNone/>
            </a:pPr>
            <a:r>
              <a:rPr lang="en-US" sz="1600" b="1" dirty="0">
                <a:solidFill>
                  <a:srgbClr val="17A398"/>
                </a:solidFill>
                <a:latin typeface="Cambria" pitchFamily="34" charset="0"/>
                <a:ea typeface="Cambria" pitchFamily="34" charset="-122"/>
                <a:cs typeface="Cambria" pitchFamily="34" charset="-120"/>
              </a:rPr>
              <a:t>08</a:t>
            </a:r>
            <a:endParaRPr lang="en-US" sz="1600" dirty="0"/>
          </a:p>
        </p:txBody>
      </p:sp>
      <p:sp>
        <p:nvSpPr>
          <p:cNvPr id="18" name="Text 16"/>
          <p:cNvSpPr/>
          <p:nvPr/>
        </p:nvSpPr>
        <p:spPr>
          <a:xfrm>
            <a:off x="6963156" y="2258568"/>
            <a:ext cx="4585716" cy="457200"/>
          </a:xfrm>
          <a:prstGeom prst="rect">
            <a:avLst/>
          </a:prstGeom>
          <a:noFill/>
          <a:ln/>
        </p:spPr>
        <p:txBody>
          <a:bodyPr wrap="square" lIns="0" tIns="0" rIns="0" bIns="0" rtlCol="0" anchor="ctr"/>
          <a:lstStyle/>
          <a:p>
            <a:pPr marL="0" indent="0">
              <a:buNone/>
            </a:pPr>
            <a:r>
              <a:rPr lang="en-US" sz="1600" dirty="0">
                <a:solidFill>
                  <a:srgbClr val="2B3A4A"/>
                </a:solidFill>
                <a:latin typeface="Calibri" pitchFamily="34" charset="0"/>
                <a:ea typeface="Calibri" pitchFamily="34" charset="-122"/>
                <a:cs typeface="Calibri" pitchFamily="34" charset="-120"/>
              </a:rPr>
              <a:t>Data Cleaning</a:t>
            </a:r>
            <a:endParaRPr lang="en-US" sz="1600" dirty="0"/>
          </a:p>
        </p:txBody>
      </p:sp>
      <p:sp>
        <p:nvSpPr>
          <p:cNvPr id="19" name="Text 17"/>
          <p:cNvSpPr/>
          <p:nvPr/>
        </p:nvSpPr>
        <p:spPr>
          <a:xfrm>
            <a:off x="6368796" y="2825496"/>
            <a:ext cx="502920" cy="457200"/>
          </a:xfrm>
          <a:prstGeom prst="rect">
            <a:avLst/>
          </a:prstGeom>
          <a:noFill/>
          <a:ln/>
        </p:spPr>
        <p:txBody>
          <a:bodyPr wrap="square" lIns="0" tIns="0" rIns="0" bIns="0" rtlCol="0" anchor="ctr"/>
          <a:lstStyle/>
          <a:p>
            <a:pPr marL="0" indent="0">
              <a:buNone/>
            </a:pPr>
            <a:r>
              <a:rPr lang="en-US" sz="1600" b="1" dirty="0">
                <a:solidFill>
                  <a:srgbClr val="17A398"/>
                </a:solidFill>
                <a:latin typeface="Cambria" pitchFamily="34" charset="0"/>
                <a:ea typeface="Cambria" pitchFamily="34" charset="-122"/>
                <a:cs typeface="Cambria" pitchFamily="34" charset="-120"/>
              </a:rPr>
              <a:t>09</a:t>
            </a:r>
            <a:endParaRPr lang="en-US" sz="1600" dirty="0"/>
          </a:p>
        </p:txBody>
      </p:sp>
      <p:sp>
        <p:nvSpPr>
          <p:cNvPr id="20" name="Text 18"/>
          <p:cNvSpPr/>
          <p:nvPr/>
        </p:nvSpPr>
        <p:spPr>
          <a:xfrm>
            <a:off x="6963156" y="2825496"/>
            <a:ext cx="4585716" cy="457200"/>
          </a:xfrm>
          <a:prstGeom prst="rect">
            <a:avLst/>
          </a:prstGeom>
          <a:noFill/>
          <a:ln/>
        </p:spPr>
        <p:txBody>
          <a:bodyPr wrap="square" lIns="0" tIns="0" rIns="0" bIns="0" rtlCol="0" anchor="ctr"/>
          <a:lstStyle/>
          <a:p>
            <a:pPr marL="0" indent="0">
              <a:buNone/>
            </a:pPr>
            <a:r>
              <a:rPr lang="en-US" sz="1600" dirty="0">
                <a:solidFill>
                  <a:srgbClr val="2B3A4A"/>
                </a:solidFill>
                <a:latin typeface="Calibri" pitchFamily="34" charset="0"/>
                <a:ea typeface="Calibri" pitchFamily="34" charset="-122"/>
                <a:cs typeface="Calibri" pitchFamily="34" charset="-120"/>
              </a:rPr>
              <a:t>Exploratory Data Analysis (EDA)</a:t>
            </a:r>
            <a:endParaRPr lang="en-US" sz="1600" dirty="0"/>
          </a:p>
        </p:txBody>
      </p:sp>
      <p:sp>
        <p:nvSpPr>
          <p:cNvPr id="21" name="Text 19"/>
          <p:cNvSpPr/>
          <p:nvPr/>
        </p:nvSpPr>
        <p:spPr>
          <a:xfrm>
            <a:off x="6368796" y="3392424"/>
            <a:ext cx="502920" cy="457200"/>
          </a:xfrm>
          <a:prstGeom prst="rect">
            <a:avLst/>
          </a:prstGeom>
          <a:noFill/>
          <a:ln/>
        </p:spPr>
        <p:txBody>
          <a:bodyPr wrap="square" lIns="0" tIns="0" rIns="0" bIns="0" rtlCol="0" anchor="ctr"/>
          <a:lstStyle/>
          <a:p>
            <a:pPr marL="0" indent="0">
              <a:buNone/>
            </a:pPr>
            <a:r>
              <a:rPr lang="en-US" sz="1600" b="1" dirty="0">
                <a:solidFill>
                  <a:srgbClr val="17A398"/>
                </a:solidFill>
                <a:latin typeface="Cambria" pitchFamily="34" charset="0"/>
                <a:ea typeface="Cambria" pitchFamily="34" charset="-122"/>
                <a:cs typeface="Cambria" pitchFamily="34" charset="-120"/>
              </a:rPr>
              <a:t>10</a:t>
            </a:r>
            <a:endParaRPr lang="en-US" sz="1600" dirty="0"/>
          </a:p>
        </p:txBody>
      </p:sp>
      <p:sp>
        <p:nvSpPr>
          <p:cNvPr id="22" name="Text 20"/>
          <p:cNvSpPr/>
          <p:nvPr/>
        </p:nvSpPr>
        <p:spPr>
          <a:xfrm>
            <a:off x="6963156" y="3392424"/>
            <a:ext cx="4585716" cy="457200"/>
          </a:xfrm>
          <a:prstGeom prst="rect">
            <a:avLst/>
          </a:prstGeom>
          <a:noFill/>
          <a:ln/>
        </p:spPr>
        <p:txBody>
          <a:bodyPr wrap="square" lIns="0" tIns="0" rIns="0" bIns="0" rtlCol="0" anchor="ctr"/>
          <a:lstStyle/>
          <a:p>
            <a:pPr marL="0" indent="0">
              <a:buNone/>
            </a:pPr>
            <a:r>
              <a:rPr lang="en-US" sz="1600" dirty="0">
                <a:solidFill>
                  <a:srgbClr val="2B3A4A"/>
                </a:solidFill>
                <a:latin typeface="Calibri" pitchFamily="34" charset="0"/>
                <a:ea typeface="Calibri" pitchFamily="34" charset="-122"/>
                <a:cs typeface="Calibri" pitchFamily="34" charset="-120"/>
              </a:rPr>
              <a:t>Performance Analytics &amp; Power BI</a:t>
            </a:r>
            <a:endParaRPr lang="en-US" sz="1600" dirty="0"/>
          </a:p>
        </p:txBody>
      </p:sp>
      <p:sp>
        <p:nvSpPr>
          <p:cNvPr id="23" name="Text 21"/>
          <p:cNvSpPr/>
          <p:nvPr/>
        </p:nvSpPr>
        <p:spPr>
          <a:xfrm>
            <a:off x="6368796" y="3959352"/>
            <a:ext cx="502920" cy="457200"/>
          </a:xfrm>
          <a:prstGeom prst="rect">
            <a:avLst/>
          </a:prstGeom>
          <a:noFill/>
          <a:ln/>
        </p:spPr>
        <p:txBody>
          <a:bodyPr wrap="square" lIns="0" tIns="0" rIns="0" bIns="0" rtlCol="0" anchor="ctr"/>
          <a:lstStyle/>
          <a:p>
            <a:pPr marL="0" indent="0">
              <a:buNone/>
            </a:pPr>
            <a:r>
              <a:rPr lang="en-US" sz="1600" b="1" dirty="0">
                <a:solidFill>
                  <a:srgbClr val="17A398"/>
                </a:solidFill>
                <a:latin typeface="Cambria" pitchFamily="34" charset="0"/>
                <a:ea typeface="Cambria" pitchFamily="34" charset="-122"/>
                <a:cs typeface="Cambria" pitchFamily="34" charset="-120"/>
              </a:rPr>
              <a:t>11</a:t>
            </a:r>
            <a:endParaRPr lang="en-US" sz="1600" dirty="0"/>
          </a:p>
        </p:txBody>
      </p:sp>
      <p:sp>
        <p:nvSpPr>
          <p:cNvPr id="24" name="Text 22"/>
          <p:cNvSpPr/>
          <p:nvPr/>
        </p:nvSpPr>
        <p:spPr>
          <a:xfrm>
            <a:off x="6963156" y="3959352"/>
            <a:ext cx="4585716" cy="457200"/>
          </a:xfrm>
          <a:prstGeom prst="rect">
            <a:avLst/>
          </a:prstGeom>
          <a:noFill/>
          <a:ln/>
        </p:spPr>
        <p:txBody>
          <a:bodyPr wrap="square" lIns="0" tIns="0" rIns="0" bIns="0" rtlCol="0" anchor="ctr"/>
          <a:lstStyle/>
          <a:p>
            <a:pPr marL="0" indent="0">
              <a:buNone/>
            </a:pPr>
            <a:r>
              <a:rPr lang="en-US" sz="1600" dirty="0">
                <a:solidFill>
                  <a:srgbClr val="2B3A4A"/>
                </a:solidFill>
                <a:latin typeface="Calibri" pitchFamily="34" charset="0"/>
                <a:ea typeface="Calibri" pitchFamily="34" charset="-122"/>
                <a:cs typeface="Calibri" pitchFamily="34" charset="-120"/>
              </a:rPr>
              <a:t>Results &amp; Conclusion</a:t>
            </a:r>
            <a:endParaRPr lang="en-US" sz="1600" dirty="0"/>
          </a:p>
        </p:txBody>
      </p:sp>
      <p:sp>
        <p:nvSpPr>
          <p:cNvPr id="25" name="Text 23"/>
          <p:cNvSpPr/>
          <p:nvPr/>
        </p:nvSpPr>
        <p:spPr>
          <a:xfrm>
            <a:off x="640080" y="6400800"/>
            <a:ext cx="7315200" cy="274320"/>
          </a:xfrm>
          <a:prstGeom prst="rect">
            <a:avLst/>
          </a:prstGeom>
          <a:noFill/>
          <a:ln/>
        </p:spPr>
        <p:txBody>
          <a:bodyPr wrap="square" lIns="0" tIns="0" rIns="0" bIns="0" rtlCol="0" anchor="ctr"/>
          <a:lstStyle/>
          <a:p>
            <a:pPr marL="0" indent="0">
              <a:buNone/>
            </a:pPr>
            <a:r>
              <a:rPr lang="en-US" sz="900" dirty="0">
                <a:solidFill>
                  <a:srgbClr val="5B6B7A"/>
                </a:solidFill>
                <a:latin typeface="Calibri" pitchFamily="34" charset="0"/>
                <a:ea typeface="Calibri" pitchFamily="34" charset="-122"/>
                <a:cs typeface="Calibri" pitchFamily="34" charset="-120"/>
              </a:rPr>
              <a:t>Mutual Fund Analytics  |  Bluestock FinTech Internship</a:t>
            </a:r>
            <a:endParaRPr lang="en-US" sz="900" dirty="0"/>
          </a:p>
        </p:txBody>
      </p:sp>
      <p:sp>
        <p:nvSpPr>
          <p:cNvPr id="26" name="Text 24"/>
          <p:cNvSpPr/>
          <p:nvPr/>
        </p:nvSpPr>
        <p:spPr>
          <a:xfrm>
            <a:off x="11091672" y="6400800"/>
            <a:ext cx="457200" cy="274320"/>
          </a:xfrm>
          <a:prstGeom prst="rect">
            <a:avLst/>
          </a:prstGeom>
          <a:noFill/>
          <a:ln/>
        </p:spPr>
        <p:txBody>
          <a:bodyPr wrap="square" lIns="0" tIns="0" rIns="0" bIns="0" rtlCol="0" anchor="ctr"/>
          <a:lstStyle/>
          <a:p>
            <a:pPr marL="0" indent="0" algn="r">
              <a:buNone/>
            </a:pPr>
            <a:r>
              <a:rPr lang="en-US" sz="900" dirty="0">
                <a:solidFill>
                  <a:srgbClr val="5B6B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822960"/>
          </a:xfrm>
          <a:prstGeom prst="rect">
            <a:avLst/>
          </a:prstGeom>
          <a:noFill/>
          <a:ln/>
        </p:spPr>
        <p:txBody>
          <a:bodyPr wrap="square" lIns="0" tIns="0" rIns="0" bIns="0" rtlCol="0" anchor="ctr"/>
          <a:lstStyle/>
          <a:p>
            <a:pPr marL="0" indent="0" algn="l">
              <a:buNone/>
            </a:pPr>
            <a:r>
              <a:rPr lang="en-US" sz="3200" b="1" dirty="0">
                <a:solidFill>
                  <a:srgbClr val="0B2545"/>
                </a:solidFill>
                <a:latin typeface="Cambria" pitchFamily="34" charset="0"/>
                <a:ea typeface="Cambria" pitchFamily="34" charset="-122"/>
                <a:cs typeface="Cambria" pitchFamily="34" charset="-120"/>
              </a:rPr>
              <a:t>Project Overview</a:t>
            </a:r>
            <a:endParaRPr lang="en-US" sz="3200" dirty="0"/>
          </a:p>
        </p:txBody>
      </p:sp>
      <p:sp>
        <p:nvSpPr>
          <p:cNvPr id="3" name="Text 1"/>
          <p:cNvSpPr/>
          <p:nvPr/>
        </p:nvSpPr>
        <p:spPr>
          <a:xfrm>
            <a:off x="640080" y="1508760"/>
            <a:ext cx="10908792" cy="1371600"/>
          </a:xfrm>
          <a:prstGeom prst="rect">
            <a:avLst/>
          </a:prstGeom>
          <a:noFill/>
          <a:ln/>
        </p:spPr>
        <p:txBody>
          <a:bodyPr wrap="square" lIns="0" tIns="0" rIns="0" bIns="0" rtlCol="0" anchor="t"/>
          <a:lstStyle/>
          <a:p>
            <a:pPr marL="0" indent="0">
              <a:lnSpc>
                <a:spcPct val="125000"/>
              </a:lnSpc>
              <a:buNone/>
            </a:pPr>
            <a:r>
              <a:rPr lang="en-US" sz="1500" dirty="0">
                <a:solidFill>
                  <a:srgbClr val="2B3A4A"/>
                </a:solidFill>
                <a:latin typeface="Calibri" pitchFamily="34" charset="0"/>
                <a:ea typeface="Calibri" pitchFamily="34" charset="-122"/>
                <a:cs typeface="Calibri" pitchFamily="34" charset="-120"/>
              </a:rPr>
              <a:t>Mutual funds are a popular way to invest with professional management. This capstone analyzes mutual fund datasets to reveal investment trends, investor behavior, and fund performance. The goal is practical: prepare cleaned data, compute performance metrics, and present findings in an interactive Power BI dashboard for easy decision-making.</a:t>
            </a:r>
            <a:endParaRPr lang="en-US" sz="1500" dirty="0"/>
          </a:p>
        </p:txBody>
      </p:sp>
      <p:sp>
        <p:nvSpPr>
          <p:cNvPr id="4" name="Shape 2"/>
          <p:cNvSpPr/>
          <p:nvPr/>
        </p:nvSpPr>
        <p:spPr>
          <a:xfrm>
            <a:off x="640080" y="3246120"/>
            <a:ext cx="3392424" cy="2468880"/>
          </a:xfrm>
          <a:prstGeom prst="roundRect">
            <a:avLst>
              <a:gd name="adj" fmla="val 2963"/>
            </a:avLst>
          </a:prstGeom>
          <a:solidFill>
            <a:srgbClr val="FFFFFF"/>
          </a:solidFill>
          <a:ln w="12700">
            <a:solidFill>
              <a:srgbClr val="E1E7EC"/>
            </a:solidFill>
            <a:prstDash val="solid"/>
          </a:ln>
          <a:effectLst>
            <a:outerShdw blurRad="101600" dist="38100" dir="5400000" algn="bl" rotWithShape="0">
              <a:srgbClr val="1B2A38">
                <a:alpha val="10000"/>
              </a:srgbClr>
            </a:outerShdw>
          </a:effectLst>
        </p:spPr>
      </p:sp>
      <p:pic>
        <p:nvPicPr>
          <p:cNvPr id="5" name="Image 0" descr="preencoded.png"/>
          <p:cNvPicPr>
            <a:picLocks noChangeAspect="1"/>
          </p:cNvPicPr>
          <p:nvPr/>
        </p:nvPicPr>
        <p:blipFill>
          <a:blip r:embed="rId3"/>
          <a:stretch>
            <a:fillRect/>
          </a:stretch>
        </p:blipFill>
        <p:spPr>
          <a:xfrm>
            <a:off x="960120" y="3566160"/>
            <a:ext cx="457200" cy="457200"/>
          </a:xfrm>
          <a:prstGeom prst="rect">
            <a:avLst/>
          </a:prstGeom>
        </p:spPr>
      </p:pic>
      <p:sp>
        <p:nvSpPr>
          <p:cNvPr id="6" name="Text 3"/>
          <p:cNvSpPr/>
          <p:nvPr/>
        </p:nvSpPr>
        <p:spPr>
          <a:xfrm>
            <a:off x="960120" y="4160520"/>
            <a:ext cx="2752344" cy="36576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What We Analyze</a:t>
            </a:r>
            <a:endParaRPr lang="en-US" sz="1500" dirty="0"/>
          </a:p>
        </p:txBody>
      </p:sp>
      <p:sp>
        <p:nvSpPr>
          <p:cNvPr id="7" name="Text 4"/>
          <p:cNvSpPr/>
          <p:nvPr/>
        </p:nvSpPr>
        <p:spPr>
          <a:xfrm>
            <a:off x="960120" y="4544568"/>
            <a:ext cx="2752344" cy="1051560"/>
          </a:xfrm>
          <a:prstGeom prst="rect">
            <a:avLst/>
          </a:prstGeom>
          <a:noFill/>
          <a:ln/>
        </p:spPr>
        <p:txBody>
          <a:bodyPr wrap="square" lIns="0" tIns="0" rIns="0" bIns="0" rtlCol="0" anchor="t"/>
          <a:lstStyle/>
          <a:p>
            <a:pPr marL="0" indent="0">
              <a:lnSpc>
                <a:spcPct val="120000"/>
              </a:lnSpc>
              <a:buNone/>
            </a:pPr>
            <a:r>
              <a:rPr lang="en-US" sz="1200" dirty="0">
                <a:solidFill>
                  <a:srgbClr val="5B6B7A"/>
                </a:solidFill>
                <a:latin typeface="Calibri" pitchFamily="34" charset="0"/>
                <a:ea typeface="Calibri" pitchFamily="34" charset="-122"/>
                <a:cs typeface="Calibri" pitchFamily="34" charset="-120"/>
              </a:rPr>
              <a:t>NAV history, scheme performance metrics, and investor transactions.</a:t>
            </a:r>
            <a:endParaRPr lang="en-US" sz="1200" dirty="0"/>
          </a:p>
        </p:txBody>
      </p:sp>
      <p:sp>
        <p:nvSpPr>
          <p:cNvPr id="8" name="Shape 5"/>
          <p:cNvSpPr/>
          <p:nvPr/>
        </p:nvSpPr>
        <p:spPr>
          <a:xfrm>
            <a:off x="4398264" y="3246120"/>
            <a:ext cx="3392424" cy="2468880"/>
          </a:xfrm>
          <a:prstGeom prst="roundRect">
            <a:avLst>
              <a:gd name="adj" fmla="val 2963"/>
            </a:avLst>
          </a:prstGeom>
          <a:solidFill>
            <a:srgbClr val="FFFFFF"/>
          </a:solidFill>
          <a:ln w="12700">
            <a:solidFill>
              <a:srgbClr val="E1E7EC"/>
            </a:solidFill>
            <a:prstDash val="solid"/>
          </a:ln>
          <a:effectLst>
            <a:outerShdw blurRad="101600" dist="38100" dir="5400000" algn="bl" rotWithShape="0">
              <a:srgbClr val="1B2A38">
                <a:alpha val="10000"/>
              </a:srgbClr>
            </a:outerShdw>
          </a:effectLst>
        </p:spPr>
      </p:sp>
      <p:pic>
        <p:nvPicPr>
          <p:cNvPr id="9" name="Image 1" descr="preencoded.png"/>
          <p:cNvPicPr>
            <a:picLocks noChangeAspect="1"/>
          </p:cNvPicPr>
          <p:nvPr/>
        </p:nvPicPr>
        <p:blipFill>
          <a:blip r:embed="rId4"/>
          <a:stretch>
            <a:fillRect/>
          </a:stretch>
        </p:blipFill>
        <p:spPr>
          <a:xfrm>
            <a:off x="4718304" y="3566160"/>
            <a:ext cx="457200" cy="457200"/>
          </a:xfrm>
          <a:prstGeom prst="rect">
            <a:avLst/>
          </a:prstGeom>
        </p:spPr>
      </p:pic>
      <p:sp>
        <p:nvSpPr>
          <p:cNvPr id="10" name="Text 6"/>
          <p:cNvSpPr/>
          <p:nvPr/>
        </p:nvSpPr>
        <p:spPr>
          <a:xfrm>
            <a:off x="4718304" y="4160520"/>
            <a:ext cx="2752344" cy="36576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End Product</a:t>
            </a:r>
            <a:endParaRPr lang="en-US" sz="1500" dirty="0"/>
          </a:p>
        </p:txBody>
      </p:sp>
      <p:sp>
        <p:nvSpPr>
          <p:cNvPr id="11" name="Text 7"/>
          <p:cNvSpPr/>
          <p:nvPr/>
        </p:nvSpPr>
        <p:spPr>
          <a:xfrm>
            <a:off x="4718304" y="4544568"/>
            <a:ext cx="2752344" cy="1051560"/>
          </a:xfrm>
          <a:prstGeom prst="rect">
            <a:avLst/>
          </a:prstGeom>
          <a:noFill/>
          <a:ln/>
        </p:spPr>
        <p:txBody>
          <a:bodyPr wrap="square" lIns="0" tIns="0" rIns="0" bIns="0" rtlCol="0" anchor="t"/>
          <a:lstStyle/>
          <a:p>
            <a:pPr marL="0" indent="0">
              <a:lnSpc>
                <a:spcPct val="120000"/>
              </a:lnSpc>
              <a:buNone/>
            </a:pPr>
            <a:r>
              <a:rPr lang="en-US" sz="1200" dirty="0">
                <a:solidFill>
                  <a:srgbClr val="5B6B7A"/>
                </a:solidFill>
                <a:latin typeface="Calibri" pitchFamily="34" charset="0"/>
                <a:ea typeface="Calibri" pitchFamily="34" charset="-122"/>
                <a:cs typeface="Calibri" pitchFamily="34" charset="-120"/>
              </a:rPr>
              <a:t>Interactive Power BI dashboard with KPIs and filters for exploration.</a:t>
            </a:r>
            <a:endParaRPr lang="en-US" sz="1200" dirty="0"/>
          </a:p>
        </p:txBody>
      </p:sp>
      <p:sp>
        <p:nvSpPr>
          <p:cNvPr id="12" name="Shape 8"/>
          <p:cNvSpPr/>
          <p:nvPr/>
        </p:nvSpPr>
        <p:spPr>
          <a:xfrm>
            <a:off x="8156448" y="3246120"/>
            <a:ext cx="3392424" cy="2468880"/>
          </a:xfrm>
          <a:prstGeom prst="roundRect">
            <a:avLst>
              <a:gd name="adj" fmla="val 2963"/>
            </a:avLst>
          </a:prstGeom>
          <a:solidFill>
            <a:srgbClr val="FFFFFF"/>
          </a:solidFill>
          <a:ln w="12700">
            <a:solidFill>
              <a:srgbClr val="E1E7EC"/>
            </a:solidFill>
            <a:prstDash val="solid"/>
          </a:ln>
          <a:effectLst>
            <a:outerShdw blurRad="101600" dist="38100" dir="5400000" algn="bl" rotWithShape="0">
              <a:srgbClr val="1B2A38">
                <a:alpha val="10000"/>
              </a:srgbClr>
            </a:outerShdw>
          </a:effectLst>
        </p:spPr>
      </p:sp>
      <p:pic>
        <p:nvPicPr>
          <p:cNvPr id="13" name="Image 2" descr="preencoded.png"/>
          <p:cNvPicPr>
            <a:picLocks noChangeAspect="1"/>
          </p:cNvPicPr>
          <p:nvPr/>
        </p:nvPicPr>
        <p:blipFill>
          <a:blip r:embed="rId5"/>
          <a:stretch>
            <a:fillRect/>
          </a:stretch>
        </p:blipFill>
        <p:spPr>
          <a:xfrm>
            <a:off x="8476488" y="3566160"/>
            <a:ext cx="457200" cy="457200"/>
          </a:xfrm>
          <a:prstGeom prst="rect">
            <a:avLst/>
          </a:prstGeom>
        </p:spPr>
      </p:pic>
      <p:sp>
        <p:nvSpPr>
          <p:cNvPr id="14" name="Text 9"/>
          <p:cNvSpPr/>
          <p:nvPr/>
        </p:nvSpPr>
        <p:spPr>
          <a:xfrm>
            <a:off x="8476488" y="4160520"/>
            <a:ext cx="2752344" cy="36576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Tools</a:t>
            </a:r>
            <a:endParaRPr lang="en-US" sz="1500" dirty="0"/>
          </a:p>
        </p:txBody>
      </p:sp>
      <p:sp>
        <p:nvSpPr>
          <p:cNvPr id="15" name="Text 10"/>
          <p:cNvSpPr/>
          <p:nvPr/>
        </p:nvSpPr>
        <p:spPr>
          <a:xfrm>
            <a:off x="8476488" y="4544568"/>
            <a:ext cx="2752344" cy="1051560"/>
          </a:xfrm>
          <a:prstGeom prst="rect">
            <a:avLst/>
          </a:prstGeom>
          <a:noFill/>
          <a:ln/>
        </p:spPr>
        <p:txBody>
          <a:bodyPr wrap="square" lIns="0" tIns="0" rIns="0" bIns="0" rtlCol="0" anchor="t"/>
          <a:lstStyle/>
          <a:p>
            <a:pPr marL="0" indent="0">
              <a:lnSpc>
                <a:spcPct val="120000"/>
              </a:lnSpc>
              <a:buNone/>
            </a:pPr>
            <a:r>
              <a:rPr lang="en-US" sz="1200" dirty="0">
                <a:solidFill>
                  <a:srgbClr val="5B6B7A"/>
                </a:solidFill>
                <a:latin typeface="Calibri" pitchFamily="34" charset="0"/>
                <a:ea typeface="Calibri" pitchFamily="34" charset="-122"/>
                <a:cs typeface="Calibri" pitchFamily="34" charset="-120"/>
              </a:rPr>
              <a:t>Python, SQLite, and Power BI for analysis and visualization.</a:t>
            </a:r>
            <a:endParaRPr lang="en-US" sz="1200" dirty="0"/>
          </a:p>
        </p:txBody>
      </p:sp>
      <p:sp>
        <p:nvSpPr>
          <p:cNvPr id="16" name="Text 11"/>
          <p:cNvSpPr/>
          <p:nvPr/>
        </p:nvSpPr>
        <p:spPr>
          <a:xfrm>
            <a:off x="640080" y="6400800"/>
            <a:ext cx="7315200" cy="274320"/>
          </a:xfrm>
          <a:prstGeom prst="rect">
            <a:avLst/>
          </a:prstGeom>
          <a:noFill/>
          <a:ln/>
        </p:spPr>
        <p:txBody>
          <a:bodyPr wrap="square" lIns="0" tIns="0" rIns="0" bIns="0" rtlCol="0" anchor="ctr"/>
          <a:lstStyle/>
          <a:p>
            <a:pPr marL="0" indent="0">
              <a:buNone/>
            </a:pPr>
            <a:r>
              <a:rPr lang="en-US" sz="900" dirty="0">
                <a:solidFill>
                  <a:srgbClr val="5B6B7A"/>
                </a:solidFill>
                <a:latin typeface="Calibri" pitchFamily="34" charset="0"/>
                <a:ea typeface="Calibri" pitchFamily="34" charset="-122"/>
                <a:cs typeface="Calibri" pitchFamily="34" charset="-120"/>
              </a:rPr>
              <a:t>Mutual Fund Analytics  |  Bluestock FinTech Internship</a:t>
            </a:r>
            <a:endParaRPr lang="en-US" sz="900" dirty="0"/>
          </a:p>
        </p:txBody>
      </p:sp>
      <p:sp>
        <p:nvSpPr>
          <p:cNvPr id="17" name="Text 12"/>
          <p:cNvSpPr/>
          <p:nvPr/>
        </p:nvSpPr>
        <p:spPr>
          <a:xfrm>
            <a:off x="11091672" y="6400800"/>
            <a:ext cx="457200" cy="274320"/>
          </a:xfrm>
          <a:prstGeom prst="rect">
            <a:avLst/>
          </a:prstGeom>
          <a:noFill/>
          <a:ln/>
        </p:spPr>
        <p:txBody>
          <a:bodyPr wrap="square" lIns="0" tIns="0" rIns="0" bIns="0" rtlCol="0" anchor="ctr"/>
          <a:lstStyle/>
          <a:p>
            <a:pPr marL="0" indent="0" algn="r">
              <a:buNone/>
            </a:pPr>
            <a:r>
              <a:rPr lang="en-US" sz="900" dirty="0">
                <a:solidFill>
                  <a:srgbClr val="5B6B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982712" y="0"/>
            <a:ext cx="4206240" cy="6858000"/>
          </a:xfrm>
          <a:prstGeom prst="rect">
            <a:avLst/>
          </a:prstGeom>
          <a:solidFill>
            <a:srgbClr val="0B2545"/>
          </a:solidFill>
          <a:ln/>
        </p:spPr>
      </p:sp>
      <p:sp>
        <p:nvSpPr>
          <p:cNvPr id="3" name="Shape 1"/>
          <p:cNvSpPr/>
          <p:nvPr/>
        </p:nvSpPr>
        <p:spPr>
          <a:xfrm>
            <a:off x="8622792" y="1188720"/>
            <a:ext cx="2926080" cy="2926080"/>
          </a:xfrm>
          <a:prstGeom prst="ellipse">
            <a:avLst/>
          </a:prstGeom>
          <a:solidFill>
            <a:srgbClr val="065A82">
              <a:alpha val="65000"/>
            </a:srgbClr>
          </a:solidFill>
          <a:ln/>
        </p:spPr>
      </p:sp>
      <p:pic>
        <p:nvPicPr>
          <p:cNvPr id="4" name="Image 0" descr="preencoded.png"/>
          <p:cNvPicPr>
            <a:picLocks noChangeAspect="1"/>
          </p:cNvPicPr>
          <p:nvPr/>
        </p:nvPicPr>
        <p:blipFill>
          <a:blip r:embed="rId3"/>
          <a:stretch>
            <a:fillRect/>
          </a:stretch>
        </p:blipFill>
        <p:spPr>
          <a:xfrm>
            <a:off x="9720072" y="2468880"/>
            <a:ext cx="822960" cy="822960"/>
          </a:xfrm>
          <a:prstGeom prst="rect">
            <a:avLst/>
          </a:prstGeom>
        </p:spPr>
      </p:pic>
      <p:sp>
        <p:nvSpPr>
          <p:cNvPr id="5" name="Text 2"/>
          <p:cNvSpPr/>
          <p:nvPr/>
        </p:nvSpPr>
        <p:spPr>
          <a:xfrm>
            <a:off x="8439912" y="3931920"/>
            <a:ext cx="3291840" cy="1463040"/>
          </a:xfrm>
          <a:prstGeom prst="rect">
            <a:avLst/>
          </a:prstGeom>
          <a:noFill/>
          <a:ln/>
        </p:spPr>
        <p:txBody>
          <a:bodyPr wrap="square" lIns="0" tIns="0" rIns="0" bIns="0" rtlCol="0" anchor="ctr"/>
          <a:lstStyle/>
          <a:p>
            <a:pPr marL="0" indent="0" algn="ctr">
              <a:lnSpc>
                <a:spcPct val="130000"/>
              </a:lnSpc>
              <a:buNone/>
            </a:pPr>
            <a:r>
              <a:rPr lang="en-US" sz="1400" dirty="0">
                <a:solidFill>
                  <a:srgbClr val="D8E6EE"/>
                </a:solidFill>
                <a:latin typeface="Calibri" pitchFamily="34" charset="0"/>
                <a:ea typeface="Calibri" pitchFamily="34" charset="-122"/>
                <a:cs typeface="Calibri" pitchFamily="34" charset="-120"/>
              </a:rPr>
              <a:t>Scattered data makes</a:t>
            </a:r>
            <a:endParaRPr lang="en-US" sz="1400" dirty="0"/>
          </a:p>
          <a:p>
            <a:pPr marL="0" indent="0" algn="ctr">
              <a:lnSpc>
                <a:spcPct val="130000"/>
              </a:lnSpc>
              <a:buNone/>
            </a:pPr>
            <a:r>
              <a:rPr lang="en-US" sz="1400" dirty="0">
                <a:solidFill>
                  <a:srgbClr val="D8E6EE"/>
                </a:solidFill>
                <a:latin typeface="Calibri" pitchFamily="34" charset="0"/>
                <a:ea typeface="Calibri" pitchFamily="34" charset="-122"/>
                <a:cs typeface="Calibri" pitchFamily="34" charset="-120"/>
              </a:rPr>
              <a:t>comparison hard.</a:t>
            </a:r>
            <a:endParaRPr lang="en-US" sz="1400" dirty="0"/>
          </a:p>
          <a:p>
            <a:pPr marL="0" indent="0" algn="ctr">
              <a:lnSpc>
                <a:spcPct val="130000"/>
              </a:lnSpc>
              <a:buNone/>
            </a:pPr>
            <a:r>
              <a:rPr lang="en-US" sz="1400" dirty="0">
                <a:solidFill>
                  <a:srgbClr val="D8E6EE"/>
                </a:solidFill>
                <a:latin typeface="Calibri" pitchFamily="34" charset="0"/>
                <a:ea typeface="Calibri" pitchFamily="34" charset="-122"/>
                <a:cs typeface="Calibri" pitchFamily="34" charset="-120"/>
              </a:rPr>
              <a:t>Clear metrics make it simple.</a:t>
            </a:r>
            <a:endParaRPr lang="en-US" sz="1400" dirty="0"/>
          </a:p>
        </p:txBody>
      </p:sp>
      <p:sp>
        <p:nvSpPr>
          <p:cNvPr id="6" name="Text 3"/>
          <p:cNvSpPr/>
          <p:nvPr/>
        </p:nvSpPr>
        <p:spPr>
          <a:xfrm>
            <a:off x="640080" y="502920"/>
            <a:ext cx="10908792" cy="822960"/>
          </a:xfrm>
          <a:prstGeom prst="rect">
            <a:avLst/>
          </a:prstGeom>
          <a:noFill/>
          <a:ln/>
        </p:spPr>
        <p:txBody>
          <a:bodyPr wrap="square" lIns="0" tIns="0" rIns="0" bIns="0" rtlCol="0" anchor="ctr"/>
          <a:lstStyle/>
          <a:p>
            <a:pPr marL="0" indent="0" algn="l">
              <a:buNone/>
            </a:pPr>
            <a:r>
              <a:rPr lang="en-US" sz="3200" b="1" dirty="0">
                <a:solidFill>
                  <a:srgbClr val="0B2545"/>
                </a:solidFill>
                <a:latin typeface="Cambria" pitchFamily="34" charset="0"/>
                <a:ea typeface="Cambria" pitchFamily="34" charset="-122"/>
                <a:cs typeface="Cambria" pitchFamily="34" charset="-120"/>
              </a:rPr>
              <a:t>Problem Statement</a:t>
            </a:r>
            <a:endParaRPr lang="en-US" sz="3200" dirty="0"/>
          </a:p>
        </p:txBody>
      </p:sp>
      <p:sp>
        <p:nvSpPr>
          <p:cNvPr id="7" name="Text 4"/>
          <p:cNvSpPr/>
          <p:nvPr/>
        </p:nvSpPr>
        <p:spPr>
          <a:xfrm>
            <a:off x="640080" y="1600200"/>
            <a:ext cx="6885432" cy="1828800"/>
          </a:xfrm>
          <a:prstGeom prst="rect">
            <a:avLst/>
          </a:prstGeom>
          <a:noFill/>
          <a:ln/>
        </p:spPr>
        <p:txBody>
          <a:bodyPr wrap="square" lIns="0" tIns="0" rIns="0" bIns="0" rtlCol="0" anchor="t"/>
          <a:lstStyle/>
          <a:p>
            <a:pPr marL="0" indent="0">
              <a:lnSpc>
                <a:spcPct val="130000"/>
              </a:lnSpc>
              <a:buNone/>
            </a:pPr>
            <a:r>
              <a:rPr lang="en-US" sz="1500" dirty="0">
                <a:solidFill>
                  <a:srgbClr val="2B3A4A"/>
                </a:solidFill>
                <a:latin typeface="Calibri" pitchFamily="34" charset="0"/>
                <a:ea typeface="Calibri" pitchFamily="34" charset="-122"/>
                <a:cs typeface="Calibri" pitchFamily="34" charset="-120"/>
              </a:rPr>
              <a:t>Investors struggle to compare mutual funds because large, scattered financial information makes direct comparison hard. This project aims to clean, organize, analyze, and visualize mutual fund data so investment choices become clearer and quicker for users.</a:t>
            </a:r>
            <a:endParaRPr lang="en-US" sz="1500" dirty="0"/>
          </a:p>
        </p:txBody>
      </p:sp>
      <p:sp>
        <p:nvSpPr>
          <p:cNvPr id="8" name="Shape 5"/>
          <p:cNvSpPr/>
          <p:nvPr/>
        </p:nvSpPr>
        <p:spPr>
          <a:xfrm>
            <a:off x="640080" y="3749040"/>
            <a:ext cx="6885432" cy="1280160"/>
          </a:xfrm>
          <a:prstGeom prst="roundRect">
            <a:avLst>
              <a:gd name="adj" fmla="val 5714"/>
            </a:avLst>
          </a:prstGeom>
          <a:solidFill>
            <a:srgbClr val="F4F7F9"/>
          </a:solidFill>
          <a:ln w="12700">
            <a:solidFill>
              <a:srgbClr val="E1E7EC"/>
            </a:solidFill>
            <a:prstDash val="solid"/>
          </a:ln>
        </p:spPr>
      </p:sp>
      <p:pic>
        <p:nvPicPr>
          <p:cNvPr id="9" name="Image 1" descr="preencoded.png"/>
          <p:cNvPicPr>
            <a:picLocks noChangeAspect="1"/>
          </p:cNvPicPr>
          <p:nvPr/>
        </p:nvPicPr>
        <p:blipFill>
          <a:blip r:embed="rId4"/>
          <a:stretch>
            <a:fillRect/>
          </a:stretch>
        </p:blipFill>
        <p:spPr>
          <a:xfrm>
            <a:off x="914400" y="4023360"/>
            <a:ext cx="411480" cy="411480"/>
          </a:xfrm>
          <a:prstGeom prst="rect">
            <a:avLst/>
          </a:prstGeom>
        </p:spPr>
      </p:pic>
      <p:sp>
        <p:nvSpPr>
          <p:cNvPr id="10" name="Text 6"/>
          <p:cNvSpPr/>
          <p:nvPr/>
        </p:nvSpPr>
        <p:spPr>
          <a:xfrm>
            <a:off x="1508760" y="3794760"/>
            <a:ext cx="5788152" cy="1188720"/>
          </a:xfrm>
          <a:prstGeom prst="rect">
            <a:avLst/>
          </a:prstGeom>
          <a:noFill/>
          <a:ln/>
        </p:spPr>
        <p:txBody>
          <a:bodyPr wrap="square" lIns="0" tIns="0" rIns="0" bIns="0" rtlCol="0" anchor="ctr"/>
          <a:lstStyle/>
          <a:p>
            <a:pPr marL="0" indent="0">
              <a:lnSpc>
                <a:spcPct val="125000"/>
              </a:lnSpc>
              <a:buNone/>
            </a:pPr>
            <a:r>
              <a:rPr lang="en-US" sz="1400" dirty="0">
                <a:solidFill>
                  <a:srgbClr val="2B3A4A"/>
                </a:solidFill>
                <a:latin typeface="Calibri" pitchFamily="34" charset="0"/>
                <a:ea typeface="Calibri" pitchFamily="34" charset="-122"/>
                <a:cs typeface="Calibri" pitchFamily="34" charset="-120"/>
              </a:rPr>
              <a:t>Focus: make comparisons simple through metrics and interactive visuals.</a:t>
            </a:r>
            <a:endParaRPr lang="en-US" sz="1400" dirty="0"/>
          </a:p>
        </p:txBody>
      </p:sp>
      <p:sp>
        <p:nvSpPr>
          <p:cNvPr id="11" name="Text 7"/>
          <p:cNvSpPr/>
          <p:nvPr/>
        </p:nvSpPr>
        <p:spPr>
          <a:xfrm>
            <a:off x="640080" y="6400800"/>
            <a:ext cx="7315200" cy="274320"/>
          </a:xfrm>
          <a:prstGeom prst="rect">
            <a:avLst/>
          </a:prstGeom>
          <a:noFill/>
          <a:ln/>
        </p:spPr>
        <p:txBody>
          <a:bodyPr wrap="square" lIns="0" tIns="0" rIns="0" bIns="0" rtlCol="0" anchor="ctr"/>
          <a:lstStyle/>
          <a:p>
            <a:pPr marL="0" indent="0">
              <a:buNone/>
            </a:pPr>
            <a:r>
              <a:rPr lang="en-US" sz="900" dirty="0">
                <a:solidFill>
                  <a:srgbClr val="5B6B7A"/>
                </a:solidFill>
                <a:latin typeface="Calibri" pitchFamily="34" charset="0"/>
                <a:ea typeface="Calibri" pitchFamily="34" charset="-122"/>
                <a:cs typeface="Calibri" pitchFamily="34" charset="-120"/>
              </a:rPr>
              <a:t>Mutual Fund Analytics  |  Bluestock FinTech Internship</a:t>
            </a:r>
            <a:endParaRPr lang="en-US" sz="900" dirty="0"/>
          </a:p>
        </p:txBody>
      </p:sp>
      <p:sp>
        <p:nvSpPr>
          <p:cNvPr id="12" name="Text 8"/>
          <p:cNvSpPr/>
          <p:nvPr/>
        </p:nvSpPr>
        <p:spPr>
          <a:xfrm>
            <a:off x="11091672" y="6400800"/>
            <a:ext cx="457200" cy="274320"/>
          </a:xfrm>
          <a:prstGeom prst="rect">
            <a:avLst/>
          </a:prstGeom>
          <a:noFill/>
          <a:ln/>
        </p:spPr>
        <p:txBody>
          <a:bodyPr wrap="square" lIns="0" tIns="0" rIns="0" bIns="0" rtlCol="0" anchor="ctr"/>
          <a:lstStyle/>
          <a:p>
            <a:pPr marL="0" indent="0" algn="r">
              <a:buNone/>
            </a:pPr>
            <a:r>
              <a:rPr lang="en-US" sz="900" dirty="0">
                <a:solidFill>
                  <a:srgbClr val="5B6B7A"/>
                </a:solidFill>
                <a:latin typeface="Calibri" pitchFamily="34" charset="0"/>
                <a:ea typeface="Calibri" pitchFamily="34" charset="-122"/>
                <a:cs typeface="Calibri" pitchFamily="34" charset="-120"/>
              </a:rPr>
              <a:t>4</a:t>
            </a:r>
            <a:endParaRPr lang="en-US" sz="900" dirty="0"/>
          </a:p>
        </p:txBody>
      </p:sp>
      <p:pic>
        <p:nvPicPr>
          <p:cNvPr id="14" name="Picture 13">
            <a:extLst>
              <a:ext uri="{FF2B5EF4-FFF2-40B4-BE49-F238E27FC236}">
                <a16:creationId xmlns:a16="http://schemas.microsoft.com/office/drawing/2014/main" id="{369D7FE8-4942-456B-90F0-C514668572F9}"/>
              </a:ext>
            </a:extLst>
          </p:cNvPr>
          <p:cNvPicPr>
            <a:picLocks noChangeAspect="1"/>
          </p:cNvPicPr>
          <p:nvPr/>
        </p:nvPicPr>
        <p:blipFill>
          <a:blip r:embed="rId5"/>
          <a:stretch>
            <a:fillRect/>
          </a:stretch>
        </p:blipFill>
        <p:spPr>
          <a:xfrm>
            <a:off x="8650224" y="1188720"/>
            <a:ext cx="2926080" cy="2926080"/>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822960"/>
          </a:xfrm>
          <a:prstGeom prst="rect">
            <a:avLst/>
          </a:prstGeom>
          <a:noFill/>
          <a:ln/>
        </p:spPr>
        <p:txBody>
          <a:bodyPr wrap="square" lIns="0" tIns="0" rIns="0" bIns="0" rtlCol="0" anchor="ctr"/>
          <a:lstStyle/>
          <a:p>
            <a:pPr marL="0" indent="0" algn="l">
              <a:buNone/>
            </a:pPr>
            <a:r>
              <a:rPr lang="en-US" sz="3200" b="1" dirty="0">
                <a:solidFill>
                  <a:srgbClr val="0B2545"/>
                </a:solidFill>
                <a:latin typeface="Cambria" pitchFamily="34" charset="0"/>
                <a:ea typeface="Cambria" pitchFamily="34" charset="-122"/>
                <a:cs typeface="Cambria" pitchFamily="34" charset="-120"/>
              </a:rPr>
              <a:t>Objectives</a:t>
            </a:r>
            <a:endParaRPr lang="en-US" sz="3200" dirty="0"/>
          </a:p>
        </p:txBody>
      </p:sp>
      <p:sp>
        <p:nvSpPr>
          <p:cNvPr id="3" name="Shape 1"/>
          <p:cNvSpPr/>
          <p:nvPr/>
        </p:nvSpPr>
        <p:spPr>
          <a:xfrm>
            <a:off x="640080" y="1737360"/>
            <a:ext cx="2487168" cy="3566160"/>
          </a:xfrm>
          <a:prstGeom prst="roundRect">
            <a:avLst>
              <a:gd name="adj" fmla="val 3676"/>
            </a:avLst>
          </a:prstGeom>
          <a:solidFill>
            <a:srgbClr val="0B2545"/>
          </a:solidFill>
          <a:ln/>
          <a:effectLst>
            <a:outerShdw blurRad="101600" dist="38100" dir="5400000" algn="bl" rotWithShape="0">
              <a:srgbClr val="1B2A38">
                <a:alpha val="12000"/>
              </a:srgbClr>
            </a:outerShdw>
          </a:effectLst>
        </p:spPr>
      </p:sp>
      <p:sp>
        <p:nvSpPr>
          <p:cNvPr id="4" name="Shape 2"/>
          <p:cNvSpPr/>
          <p:nvPr/>
        </p:nvSpPr>
        <p:spPr>
          <a:xfrm>
            <a:off x="1517904" y="2103120"/>
            <a:ext cx="731520" cy="731520"/>
          </a:xfrm>
          <a:prstGeom prst="ellipse">
            <a:avLst/>
          </a:prstGeom>
          <a:solidFill>
            <a:srgbClr val="065A82"/>
          </a:solidFill>
          <a:ln/>
        </p:spPr>
      </p:sp>
      <p:pic>
        <p:nvPicPr>
          <p:cNvPr id="5" name="Image 0" descr="preencoded.png"/>
          <p:cNvPicPr>
            <a:picLocks noChangeAspect="1"/>
          </p:cNvPicPr>
          <p:nvPr/>
        </p:nvPicPr>
        <p:blipFill>
          <a:blip r:embed="rId3"/>
          <a:stretch>
            <a:fillRect/>
          </a:stretch>
        </p:blipFill>
        <p:spPr>
          <a:xfrm>
            <a:off x="1682496" y="2267712"/>
            <a:ext cx="402336" cy="402336"/>
          </a:xfrm>
          <a:prstGeom prst="rect">
            <a:avLst/>
          </a:prstGeom>
        </p:spPr>
      </p:pic>
      <p:sp>
        <p:nvSpPr>
          <p:cNvPr id="6" name="Text 3"/>
          <p:cNvSpPr/>
          <p:nvPr/>
        </p:nvSpPr>
        <p:spPr>
          <a:xfrm>
            <a:off x="822960" y="3108960"/>
            <a:ext cx="2121408"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Understand Data</a:t>
            </a:r>
            <a:endParaRPr lang="en-US" sz="1400" dirty="0"/>
          </a:p>
        </p:txBody>
      </p:sp>
      <p:sp>
        <p:nvSpPr>
          <p:cNvPr id="7" name="Text 4"/>
          <p:cNvSpPr/>
          <p:nvPr/>
        </p:nvSpPr>
        <p:spPr>
          <a:xfrm>
            <a:off x="868680" y="3611880"/>
            <a:ext cx="2029968" cy="1554480"/>
          </a:xfrm>
          <a:prstGeom prst="rect">
            <a:avLst/>
          </a:prstGeom>
          <a:noFill/>
          <a:ln/>
        </p:spPr>
        <p:txBody>
          <a:bodyPr wrap="square" lIns="0" tIns="0" rIns="0" bIns="0" rtlCol="0" anchor="t"/>
          <a:lstStyle/>
          <a:p>
            <a:pPr marL="0" indent="0" algn="ctr">
              <a:lnSpc>
                <a:spcPct val="125000"/>
              </a:lnSpc>
              <a:buNone/>
            </a:pPr>
            <a:r>
              <a:rPr lang="en-US" sz="1150" dirty="0">
                <a:solidFill>
                  <a:srgbClr val="C9D9E3"/>
                </a:solidFill>
                <a:latin typeface="Calibri" pitchFamily="34" charset="0"/>
                <a:ea typeface="Calibri" pitchFamily="34" charset="-122"/>
                <a:cs typeface="Calibri" pitchFamily="34" charset="-120"/>
              </a:rPr>
              <a:t>Explore NAV, performance metrics, and investor transactions.</a:t>
            </a:r>
            <a:endParaRPr lang="en-US" sz="1150" dirty="0"/>
          </a:p>
        </p:txBody>
      </p:sp>
      <p:sp>
        <p:nvSpPr>
          <p:cNvPr id="8" name="Shape 5"/>
          <p:cNvSpPr/>
          <p:nvPr/>
        </p:nvSpPr>
        <p:spPr>
          <a:xfrm>
            <a:off x="3447288" y="1737360"/>
            <a:ext cx="2487168" cy="3566160"/>
          </a:xfrm>
          <a:prstGeom prst="roundRect">
            <a:avLst>
              <a:gd name="adj" fmla="val 3676"/>
            </a:avLst>
          </a:prstGeom>
          <a:solidFill>
            <a:srgbClr val="0B2545"/>
          </a:solidFill>
          <a:ln/>
          <a:effectLst>
            <a:outerShdw blurRad="101600" dist="38100" dir="5400000" algn="bl" rotWithShape="0">
              <a:srgbClr val="1B2A38">
                <a:alpha val="12000"/>
              </a:srgbClr>
            </a:outerShdw>
          </a:effectLst>
        </p:spPr>
      </p:sp>
      <p:sp>
        <p:nvSpPr>
          <p:cNvPr id="9" name="Shape 6"/>
          <p:cNvSpPr/>
          <p:nvPr/>
        </p:nvSpPr>
        <p:spPr>
          <a:xfrm>
            <a:off x="4325112" y="2103120"/>
            <a:ext cx="731520" cy="731520"/>
          </a:xfrm>
          <a:prstGeom prst="ellipse">
            <a:avLst/>
          </a:prstGeom>
          <a:solidFill>
            <a:srgbClr val="065A82"/>
          </a:solidFill>
          <a:ln/>
        </p:spPr>
      </p:sp>
      <p:pic>
        <p:nvPicPr>
          <p:cNvPr id="10" name="Image 1" descr="preencoded.png"/>
          <p:cNvPicPr>
            <a:picLocks noChangeAspect="1"/>
          </p:cNvPicPr>
          <p:nvPr/>
        </p:nvPicPr>
        <p:blipFill>
          <a:blip r:embed="rId4"/>
          <a:stretch>
            <a:fillRect/>
          </a:stretch>
        </p:blipFill>
        <p:spPr>
          <a:xfrm>
            <a:off x="4489704" y="2267712"/>
            <a:ext cx="402336" cy="402336"/>
          </a:xfrm>
          <a:prstGeom prst="rect">
            <a:avLst/>
          </a:prstGeom>
        </p:spPr>
      </p:pic>
      <p:sp>
        <p:nvSpPr>
          <p:cNvPr id="11" name="Text 7"/>
          <p:cNvSpPr/>
          <p:nvPr/>
        </p:nvSpPr>
        <p:spPr>
          <a:xfrm>
            <a:off x="3630168" y="3108960"/>
            <a:ext cx="2121408"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Clean Datasets</a:t>
            </a:r>
            <a:endParaRPr lang="en-US" sz="1400" dirty="0"/>
          </a:p>
        </p:txBody>
      </p:sp>
      <p:sp>
        <p:nvSpPr>
          <p:cNvPr id="12" name="Text 8"/>
          <p:cNvSpPr/>
          <p:nvPr/>
        </p:nvSpPr>
        <p:spPr>
          <a:xfrm>
            <a:off x="3675888" y="3611880"/>
            <a:ext cx="2029968" cy="1554480"/>
          </a:xfrm>
          <a:prstGeom prst="rect">
            <a:avLst/>
          </a:prstGeom>
          <a:noFill/>
          <a:ln/>
        </p:spPr>
        <p:txBody>
          <a:bodyPr wrap="square" lIns="0" tIns="0" rIns="0" bIns="0" rtlCol="0" anchor="t"/>
          <a:lstStyle/>
          <a:p>
            <a:pPr marL="0" indent="0" algn="ctr">
              <a:lnSpc>
                <a:spcPct val="125000"/>
              </a:lnSpc>
              <a:buNone/>
            </a:pPr>
            <a:r>
              <a:rPr lang="en-US" sz="1150" dirty="0">
                <a:solidFill>
                  <a:srgbClr val="C9D9E3"/>
                </a:solidFill>
                <a:latin typeface="Calibri" pitchFamily="34" charset="0"/>
                <a:ea typeface="Calibri" pitchFamily="34" charset="-122"/>
                <a:cs typeface="Calibri" pitchFamily="34" charset="-120"/>
              </a:rPr>
              <a:t>Remove duplicates, fix types, and format dates.</a:t>
            </a:r>
            <a:endParaRPr lang="en-US" sz="1150" dirty="0"/>
          </a:p>
        </p:txBody>
      </p:sp>
      <p:sp>
        <p:nvSpPr>
          <p:cNvPr id="13" name="Shape 9"/>
          <p:cNvSpPr/>
          <p:nvPr/>
        </p:nvSpPr>
        <p:spPr>
          <a:xfrm>
            <a:off x="6254496" y="1737360"/>
            <a:ext cx="2487168" cy="3566160"/>
          </a:xfrm>
          <a:prstGeom prst="roundRect">
            <a:avLst>
              <a:gd name="adj" fmla="val 3676"/>
            </a:avLst>
          </a:prstGeom>
          <a:solidFill>
            <a:srgbClr val="0B2545"/>
          </a:solidFill>
          <a:ln/>
          <a:effectLst>
            <a:outerShdw blurRad="101600" dist="38100" dir="5400000" algn="bl" rotWithShape="0">
              <a:srgbClr val="1B2A38">
                <a:alpha val="12000"/>
              </a:srgbClr>
            </a:outerShdw>
          </a:effectLst>
        </p:spPr>
      </p:sp>
      <p:sp>
        <p:nvSpPr>
          <p:cNvPr id="14" name="Shape 10"/>
          <p:cNvSpPr/>
          <p:nvPr/>
        </p:nvSpPr>
        <p:spPr>
          <a:xfrm>
            <a:off x="7132320" y="2103120"/>
            <a:ext cx="731520" cy="731520"/>
          </a:xfrm>
          <a:prstGeom prst="ellipse">
            <a:avLst/>
          </a:prstGeom>
          <a:solidFill>
            <a:srgbClr val="065A82"/>
          </a:solidFill>
          <a:ln/>
        </p:spPr>
      </p:sp>
      <p:pic>
        <p:nvPicPr>
          <p:cNvPr id="15" name="Image 2" descr="preencoded.png"/>
          <p:cNvPicPr>
            <a:picLocks noChangeAspect="1"/>
          </p:cNvPicPr>
          <p:nvPr/>
        </p:nvPicPr>
        <p:blipFill>
          <a:blip r:embed="rId5"/>
          <a:stretch>
            <a:fillRect/>
          </a:stretch>
        </p:blipFill>
        <p:spPr>
          <a:xfrm>
            <a:off x="7296912" y="2267712"/>
            <a:ext cx="402336" cy="402336"/>
          </a:xfrm>
          <a:prstGeom prst="rect">
            <a:avLst/>
          </a:prstGeom>
        </p:spPr>
      </p:pic>
      <p:sp>
        <p:nvSpPr>
          <p:cNvPr id="16" name="Text 11"/>
          <p:cNvSpPr/>
          <p:nvPr/>
        </p:nvSpPr>
        <p:spPr>
          <a:xfrm>
            <a:off x="6437376" y="3108960"/>
            <a:ext cx="2121408"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EDA &amp; Metrics</a:t>
            </a:r>
            <a:endParaRPr lang="en-US" sz="1400" dirty="0"/>
          </a:p>
        </p:txBody>
      </p:sp>
      <p:sp>
        <p:nvSpPr>
          <p:cNvPr id="17" name="Text 12"/>
          <p:cNvSpPr/>
          <p:nvPr/>
        </p:nvSpPr>
        <p:spPr>
          <a:xfrm>
            <a:off x="6483096" y="3611880"/>
            <a:ext cx="2029968" cy="1554480"/>
          </a:xfrm>
          <a:prstGeom prst="rect">
            <a:avLst/>
          </a:prstGeom>
          <a:noFill/>
          <a:ln/>
        </p:spPr>
        <p:txBody>
          <a:bodyPr wrap="square" lIns="0" tIns="0" rIns="0" bIns="0" rtlCol="0" anchor="t"/>
          <a:lstStyle/>
          <a:p>
            <a:pPr marL="0" indent="0" algn="ctr">
              <a:lnSpc>
                <a:spcPct val="125000"/>
              </a:lnSpc>
              <a:buNone/>
            </a:pPr>
            <a:r>
              <a:rPr lang="en-US" sz="1150" dirty="0">
                <a:solidFill>
                  <a:srgbClr val="C9D9E3"/>
                </a:solidFill>
                <a:latin typeface="Calibri" pitchFamily="34" charset="0"/>
                <a:ea typeface="Calibri" pitchFamily="34" charset="-122"/>
                <a:cs typeface="Calibri" pitchFamily="34" charset="-120"/>
              </a:rPr>
              <a:t>Perform EDA, compute CAGR, Sharpe, Alpha/Beta, drawdown.</a:t>
            </a:r>
            <a:endParaRPr lang="en-US" sz="1150" dirty="0"/>
          </a:p>
        </p:txBody>
      </p:sp>
      <p:sp>
        <p:nvSpPr>
          <p:cNvPr id="18" name="Shape 13"/>
          <p:cNvSpPr/>
          <p:nvPr/>
        </p:nvSpPr>
        <p:spPr>
          <a:xfrm>
            <a:off x="9061704" y="1737360"/>
            <a:ext cx="2487168" cy="3566160"/>
          </a:xfrm>
          <a:prstGeom prst="roundRect">
            <a:avLst>
              <a:gd name="adj" fmla="val 3676"/>
            </a:avLst>
          </a:prstGeom>
          <a:solidFill>
            <a:srgbClr val="0B2545"/>
          </a:solidFill>
          <a:ln/>
          <a:effectLst>
            <a:outerShdw blurRad="101600" dist="38100" dir="5400000" algn="bl" rotWithShape="0">
              <a:srgbClr val="1B2A38">
                <a:alpha val="12000"/>
              </a:srgbClr>
            </a:outerShdw>
          </a:effectLst>
        </p:spPr>
      </p:sp>
      <p:sp>
        <p:nvSpPr>
          <p:cNvPr id="19" name="Shape 14"/>
          <p:cNvSpPr/>
          <p:nvPr/>
        </p:nvSpPr>
        <p:spPr>
          <a:xfrm>
            <a:off x="9939528" y="2103120"/>
            <a:ext cx="731520" cy="731520"/>
          </a:xfrm>
          <a:prstGeom prst="ellipse">
            <a:avLst/>
          </a:prstGeom>
          <a:solidFill>
            <a:srgbClr val="065A82"/>
          </a:solidFill>
          <a:ln/>
        </p:spPr>
      </p:sp>
      <p:pic>
        <p:nvPicPr>
          <p:cNvPr id="20" name="Image 3" descr="preencoded.png"/>
          <p:cNvPicPr>
            <a:picLocks noChangeAspect="1"/>
          </p:cNvPicPr>
          <p:nvPr/>
        </p:nvPicPr>
        <p:blipFill>
          <a:blip r:embed="rId6"/>
          <a:stretch>
            <a:fillRect/>
          </a:stretch>
        </p:blipFill>
        <p:spPr>
          <a:xfrm>
            <a:off x="10104120" y="2267712"/>
            <a:ext cx="402336" cy="402336"/>
          </a:xfrm>
          <a:prstGeom prst="rect">
            <a:avLst/>
          </a:prstGeom>
        </p:spPr>
      </p:pic>
      <p:sp>
        <p:nvSpPr>
          <p:cNvPr id="21" name="Text 15"/>
          <p:cNvSpPr/>
          <p:nvPr/>
        </p:nvSpPr>
        <p:spPr>
          <a:xfrm>
            <a:off x="9244584" y="3108960"/>
            <a:ext cx="2121408"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Dashboard</a:t>
            </a:r>
            <a:endParaRPr lang="en-US" sz="1400" dirty="0"/>
          </a:p>
        </p:txBody>
      </p:sp>
      <p:sp>
        <p:nvSpPr>
          <p:cNvPr id="22" name="Text 16"/>
          <p:cNvSpPr/>
          <p:nvPr/>
        </p:nvSpPr>
        <p:spPr>
          <a:xfrm>
            <a:off x="9290304" y="3611880"/>
            <a:ext cx="2029968" cy="1554480"/>
          </a:xfrm>
          <a:prstGeom prst="rect">
            <a:avLst/>
          </a:prstGeom>
          <a:noFill/>
          <a:ln/>
        </p:spPr>
        <p:txBody>
          <a:bodyPr wrap="square" lIns="0" tIns="0" rIns="0" bIns="0" rtlCol="0" anchor="t"/>
          <a:lstStyle/>
          <a:p>
            <a:pPr marL="0" indent="0" algn="ctr">
              <a:lnSpc>
                <a:spcPct val="125000"/>
              </a:lnSpc>
              <a:buNone/>
            </a:pPr>
            <a:r>
              <a:rPr lang="en-US" sz="1150" dirty="0">
                <a:solidFill>
                  <a:srgbClr val="C9D9E3"/>
                </a:solidFill>
                <a:latin typeface="Calibri" pitchFamily="34" charset="0"/>
                <a:ea typeface="Calibri" pitchFamily="34" charset="-122"/>
                <a:cs typeface="Calibri" pitchFamily="34" charset="-120"/>
              </a:rPr>
              <a:t>Build an interactive Power BI dashboard with KPIs and slicers.</a:t>
            </a:r>
            <a:endParaRPr lang="en-US" sz="1150" dirty="0"/>
          </a:p>
        </p:txBody>
      </p:sp>
      <p:sp>
        <p:nvSpPr>
          <p:cNvPr id="23" name="Text 17"/>
          <p:cNvSpPr/>
          <p:nvPr/>
        </p:nvSpPr>
        <p:spPr>
          <a:xfrm>
            <a:off x="640080" y="6400800"/>
            <a:ext cx="7315200" cy="274320"/>
          </a:xfrm>
          <a:prstGeom prst="rect">
            <a:avLst/>
          </a:prstGeom>
          <a:noFill/>
          <a:ln/>
        </p:spPr>
        <p:txBody>
          <a:bodyPr wrap="square" lIns="0" tIns="0" rIns="0" bIns="0" rtlCol="0" anchor="ctr"/>
          <a:lstStyle/>
          <a:p>
            <a:pPr marL="0" indent="0">
              <a:buNone/>
            </a:pPr>
            <a:r>
              <a:rPr lang="en-US" sz="900" dirty="0">
                <a:solidFill>
                  <a:srgbClr val="5B6B7A"/>
                </a:solidFill>
                <a:latin typeface="Calibri" pitchFamily="34" charset="0"/>
                <a:ea typeface="Calibri" pitchFamily="34" charset="-122"/>
                <a:cs typeface="Calibri" pitchFamily="34" charset="-120"/>
              </a:rPr>
              <a:t>Mutual Fund Analytics  |  Bluestock FinTech Internship</a:t>
            </a:r>
            <a:endParaRPr lang="en-US" sz="900" dirty="0"/>
          </a:p>
        </p:txBody>
      </p:sp>
      <p:sp>
        <p:nvSpPr>
          <p:cNvPr id="24" name="Text 18"/>
          <p:cNvSpPr/>
          <p:nvPr/>
        </p:nvSpPr>
        <p:spPr>
          <a:xfrm>
            <a:off x="11091672" y="6400800"/>
            <a:ext cx="457200" cy="274320"/>
          </a:xfrm>
          <a:prstGeom prst="rect">
            <a:avLst/>
          </a:prstGeom>
          <a:noFill/>
          <a:ln/>
        </p:spPr>
        <p:txBody>
          <a:bodyPr wrap="square" lIns="0" tIns="0" rIns="0" bIns="0" rtlCol="0" anchor="ctr"/>
          <a:lstStyle/>
          <a:p>
            <a:pPr marL="0" indent="0" algn="r">
              <a:buNone/>
            </a:pPr>
            <a:r>
              <a:rPr lang="en-US" sz="900" dirty="0">
                <a:solidFill>
                  <a:srgbClr val="5B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822960"/>
          </a:xfrm>
          <a:prstGeom prst="rect">
            <a:avLst/>
          </a:prstGeom>
          <a:noFill/>
          <a:ln/>
        </p:spPr>
        <p:txBody>
          <a:bodyPr wrap="square" lIns="0" tIns="0" rIns="0" bIns="0" rtlCol="0" anchor="ctr"/>
          <a:lstStyle/>
          <a:p>
            <a:pPr marL="0" indent="0" algn="l">
              <a:buNone/>
            </a:pPr>
            <a:r>
              <a:rPr lang="en-US" sz="3200" b="1" dirty="0">
                <a:solidFill>
                  <a:srgbClr val="0B2545"/>
                </a:solidFill>
                <a:latin typeface="Cambria" pitchFamily="34" charset="0"/>
                <a:ea typeface="Cambria" pitchFamily="34" charset="-122"/>
                <a:cs typeface="Cambria" pitchFamily="34" charset="-120"/>
              </a:rPr>
              <a:t>Tools &amp; Technologies</a:t>
            </a:r>
            <a:endParaRPr lang="en-US" sz="3200" dirty="0"/>
          </a:p>
        </p:txBody>
      </p:sp>
      <p:sp>
        <p:nvSpPr>
          <p:cNvPr id="3" name="Shape 1"/>
          <p:cNvSpPr/>
          <p:nvPr/>
        </p:nvSpPr>
        <p:spPr>
          <a:xfrm>
            <a:off x="640080" y="1810512"/>
            <a:ext cx="109728" cy="109728"/>
          </a:xfrm>
          <a:prstGeom prst="ellipse">
            <a:avLst/>
          </a:prstGeom>
          <a:solidFill>
            <a:srgbClr val="17A398"/>
          </a:solidFill>
          <a:ln/>
        </p:spPr>
      </p:sp>
      <p:sp>
        <p:nvSpPr>
          <p:cNvPr id="4" name="Text 2"/>
          <p:cNvSpPr/>
          <p:nvPr/>
        </p:nvSpPr>
        <p:spPr>
          <a:xfrm>
            <a:off x="960120" y="1645920"/>
            <a:ext cx="4860036" cy="411480"/>
          </a:xfrm>
          <a:prstGeom prst="rect">
            <a:avLst/>
          </a:prstGeom>
          <a:noFill/>
          <a:ln/>
        </p:spPr>
        <p:txBody>
          <a:bodyPr wrap="square" lIns="0" tIns="0" rIns="0" bIns="0" rtlCol="0" anchor="ctr"/>
          <a:lstStyle/>
          <a:p>
            <a:pPr marL="0" indent="0">
              <a:buNone/>
            </a:pPr>
            <a:r>
              <a:rPr lang="en-US" sz="1500" dirty="0">
                <a:solidFill>
                  <a:srgbClr val="2B3A4A"/>
                </a:solidFill>
                <a:latin typeface="Calibri" pitchFamily="34" charset="0"/>
                <a:ea typeface="Calibri" pitchFamily="34" charset="-122"/>
                <a:cs typeface="Calibri" pitchFamily="34" charset="-120"/>
              </a:rPr>
              <a:t>Python (Pandas, NumPy)</a:t>
            </a:r>
            <a:endParaRPr lang="en-US" sz="1500" dirty="0"/>
          </a:p>
        </p:txBody>
      </p:sp>
      <p:sp>
        <p:nvSpPr>
          <p:cNvPr id="5" name="Shape 3"/>
          <p:cNvSpPr/>
          <p:nvPr/>
        </p:nvSpPr>
        <p:spPr>
          <a:xfrm>
            <a:off x="640080" y="2359152"/>
            <a:ext cx="109728" cy="109728"/>
          </a:xfrm>
          <a:prstGeom prst="ellipse">
            <a:avLst/>
          </a:prstGeom>
          <a:solidFill>
            <a:srgbClr val="17A398"/>
          </a:solidFill>
          <a:ln/>
        </p:spPr>
      </p:sp>
      <p:sp>
        <p:nvSpPr>
          <p:cNvPr id="6" name="Text 4"/>
          <p:cNvSpPr/>
          <p:nvPr/>
        </p:nvSpPr>
        <p:spPr>
          <a:xfrm>
            <a:off x="960120" y="2194560"/>
            <a:ext cx="4860036" cy="411480"/>
          </a:xfrm>
          <a:prstGeom prst="rect">
            <a:avLst/>
          </a:prstGeom>
          <a:noFill/>
          <a:ln/>
        </p:spPr>
        <p:txBody>
          <a:bodyPr wrap="square" lIns="0" tIns="0" rIns="0" bIns="0" rtlCol="0" anchor="ctr"/>
          <a:lstStyle/>
          <a:p>
            <a:pPr marL="0" indent="0">
              <a:buNone/>
            </a:pPr>
            <a:r>
              <a:rPr lang="en-US" sz="1500" dirty="0">
                <a:solidFill>
                  <a:srgbClr val="2B3A4A"/>
                </a:solidFill>
                <a:latin typeface="Calibri" pitchFamily="34" charset="0"/>
                <a:ea typeface="Calibri" pitchFamily="34" charset="-122"/>
                <a:cs typeface="Calibri" pitchFamily="34" charset="-120"/>
              </a:rPr>
              <a:t>Matplotlib, Seaborn</a:t>
            </a:r>
            <a:endParaRPr lang="en-US" sz="1500" dirty="0"/>
          </a:p>
        </p:txBody>
      </p:sp>
      <p:sp>
        <p:nvSpPr>
          <p:cNvPr id="7" name="Shape 5"/>
          <p:cNvSpPr/>
          <p:nvPr/>
        </p:nvSpPr>
        <p:spPr>
          <a:xfrm>
            <a:off x="640080" y="2907792"/>
            <a:ext cx="109728" cy="109728"/>
          </a:xfrm>
          <a:prstGeom prst="ellipse">
            <a:avLst/>
          </a:prstGeom>
          <a:solidFill>
            <a:srgbClr val="17A398"/>
          </a:solidFill>
          <a:ln/>
        </p:spPr>
      </p:sp>
      <p:sp>
        <p:nvSpPr>
          <p:cNvPr id="8" name="Text 6"/>
          <p:cNvSpPr/>
          <p:nvPr/>
        </p:nvSpPr>
        <p:spPr>
          <a:xfrm>
            <a:off x="960120" y="2743200"/>
            <a:ext cx="4860036" cy="411480"/>
          </a:xfrm>
          <a:prstGeom prst="rect">
            <a:avLst/>
          </a:prstGeom>
          <a:noFill/>
          <a:ln/>
        </p:spPr>
        <p:txBody>
          <a:bodyPr wrap="square" lIns="0" tIns="0" rIns="0" bIns="0" rtlCol="0" anchor="ctr"/>
          <a:lstStyle/>
          <a:p>
            <a:pPr marL="0" indent="0">
              <a:buNone/>
            </a:pPr>
            <a:r>
              <a:rPr lang="en-US" sz="1500" dirty="0">
                <a:solidFill>
                  <a:srgbClr val="2B3A4A"/>
                </a:solidFill>
                <a:latin typeface="Calibri" pitchFamily="34" charset="0"/>
                <a:ea typeface="Calibri" pitchFamily="34" charset="-122"/>
                <a:cs typeface="Calibri" pitchFamily="34" charset="-120"/>
              </a:rPr>
              <a:t>SQLite</a:t>
            </a:r>
            <a:endParaRPr lang="en-US" sz="1500" dirty="0"/>
          </a:p>
        </p:txBody>
      </p:sp>
      <p:sp>
        <p:nvSpPr>
          <p:cNvPr id="9" name="Text 7"/>
          <p:cNvSpPr/>
          <p:nvPr/>
        </p:nvSpPr>
        <p:spPr>
          <a:xfrm>
            <a:off x="640080" y="3566160"/>
            <a:ext cx="5180076" cy="548640"/>
          </a:xfrm>
          <a:prstGeom prst="rect">
            <a:avLst/>
          </a:prstGeom>
          <a:noFill/>
          <a:ln/>
        </p:spPr>
        <p:txBody>
          <a:bodyPr wrap="square" lIns="0" tIns="0" rIns="0" bIns="0" rtlCol="0" anchor="ctr"/>
          <a:lstStyle/>
          <a:p>
            <a:pPr marL="0" indent="0">
              <a:buNone/>
            </a:pPr>
            <a:r>
              <a:rPr lang="en-US" sz="1300" i="1" dirty="0">
                <a:solidFill>
                  <a:srgbClr val="5B6B7A"/>
                </a:solidFill>
                <a:latin typeface="Calibri" pitchFamily="34" charset="0"/>
                <a:ea typeface="Calibri" pitchFamily="34" charset="-122"/>
                <a:cs typeface="Calibri" pitchFamily="34" charset="-120"/>
              </a:rPr>
              <a:t>Development: VS Code, Jupyter Notebook, Git &amp; GitHub.</a:t>
            </a:r>
            <a:endParaRPr lang="en-US" sz="1300" dirty="0"/>
          </a:p>
        </p:txBody>
      </p:sp>
      <p:sp>
        <p:nvSpPr>
          <p:cNvPr id="10" name="Shape 8"/>
          <p:cNvSpPr/>
          <p:nvPr/>
        </p:nvSpPr>
        <p:spPr>
          <a:xfrm>
            <a:off x="6368796" y="1810512"/>
            <a:ext cx="109728" cy="109728"/>
          </a:xfrm>
          <a:prstGeom prst="ellipse">
            <a:avLst/>
          </a:prstGeom>
          <a:solidFill>
            <a:srgbClr val="17A398"/>
          </a:solidFill>
          <a:ln/>
        </p:spPr>
      </p:sp>
      <p:sp>
        <p:nvSpPr>
          <p:cNvPr id="11" name="Text 9"/>
          <p:cNvSpPr/>
          <p:nvPr/>
        </p:nvSpPr>
        <p:spPr>
          <a:xfrm>
            <a:off x="6688836" y="1645920"/>
            <a:ext cx="4860036" cy="411480"/>
          </a:xfrm>
          <a:prstGeom prst="rect">
            <a:avLst/>
          </a:prstGeom>
          <a:noFill/>
          <a:ln/>
        </p:spPr>
        <p:txBody>
          <a:bodyPr wrap="square" lIns="0" tIns="0" rIns="0" bIns="0" rtlCol="0" anchor="ctr"/>
          <a:lstStyle/>
          <a:p>
            <a:pPr marL="0" indent="0">
              <a:buNone/>
            </a:pPr>
            <a:r>
              <a:rPr lang="en-US" sz="1500" dirty="0">
                <a:solidFill>
                  <a:srgbClr val="2B3A4A"/>
                </a:solidFill>
                <a:latin typeface="Calibri" pitchFamily="34" charset="0"/>
                <a:ea typeface="Calibri" pitchFamily="34" charset="-122"/>
                <a:cs typeface="Calibri" pitchFamily="34" charset="-120"/>
              </a:rPr>
              <a:t>Power BI for interactive dashboards</a:t>
            </a:r>
            <a:endParaRPr lang="en-US" sz="1500" dirty="0"/>
          </a:p>
        </p:txBody>
      </p:sp>
      <p:sp>
        <p:nvSpPr>
          <p:cNvPr id="12" name="Shape 10"/>
          <p:cNvSpPr/>
          <p:nvPr/>
        </p:nvSpPr>
        <p:spPr>
          <a:xfrm>
            <a:off x="6368796" y="2359152"/>
            <a:ext cx="109728" cy="109728"/>
          </a:xfrm>
          <a:prstGeom prst="ellipse">
            <a:avLst/>
          </a:prstGeom>
          <a:solidFill>
            <a:srgbClr val="17A398"/>
          </a:solidFill>
          <a:ln/>
        </p:spPr>
      </p:sp>
      <p:sp>
        <p:nvSpPr>
          <p:cNvPr id="13" name="Text 11"/>
          <p:cNvSpPr/>
          <p:nvPr/>
        </p:nvSpPr>
        <p:spPr>
          <a:xfrm>
            <a:off x="6688836" y="2194560"/>
            <a:ext cx="4860036" cy="411480"/>
          </a:xfrm>
          <a:prstGeom prst="rect">
            <a:avLst/>
          </a:prstGeom>
          <a:noFill/>
          <a:ln/>
        </p:spPr>
        <p:txBody>
          <a:bodyPr wrap="square" lIns="0" tIns="0" rIns="0" bIns="0" rtlCol="0" anchor="ctr"/>
          <a:lstStyle/>
          <a:p>
            <a:pPr marL="0" indent="0">
              <a:buNone/>
            </a:pPr>
            <a:r>
              <a:rPr lang="en-US" sz="1500" dirty="0">
                <a:solidFill>
                  <a:srgbClr val="2B3A4A"/>
                </a:solidFill>
                <a:latin typeface="Calibri" pitchFamily="34" charset="0"/>
                <a:ea typeface="Calibri" pitchFamily="34" charset="-122"/>
                <a:cs typeface="Calibri" pitchFamily="34" charset="-120"/>
              </a:rPr>
              <a:t>CSV / SQL for storage and interchange</a:t>
            </a:r>
            <a:endParaRPr lang="en-US" sz="1500" dirty="0"/>
          </a:p>
        </p:txBody>
      </p:sp>
      <p:sp>
        <p:nvSpPr>
          <p:cNvPr id="14" name="Shape 12"/>
          <p:cNvSpPr/>
          <p:nvPr/>
        </p:nvSpPr>
        <p:spPr>
          <a:xfrm>
            <a:off x="6368796" y="3108960"/>
            <a:ext cx="5180076" cy="1371600"/>
          </a:xfrm>
          <a:prstGeom prst="roundRect">
            <a:avLst>
              <a:gd name="adj" fmla="val 5333"/>
            </a:avLst>
          </a:prstGeom>
          <a:solidFill>
            <a:srgbClr val="F4F7F9"/>
          </a:solidFill>
          <a:ln w="12700">
            <a:solidFill>
              <a:srgbClr val="E1E7EC"/>
            </a:solidFill>
            <a:prstDash val="solid"/>
          </a:ln>
        </p:spPr>
      </p:sp>
      <p:sp>
        <p:nvSpPr>
          <p:cNvPr id="15" name="Text 13"/>
          <p:cNvSpPr/>
          <p:nvPr/>
        </p:nvSpPr>
        <p:spPr>
          <a:xfrm>
            <a:off x="6643116" y="3246120"/>
            <a:ext cx="4631436" cy="1097280"/>
          </a:xfrm>
          <a:prstGeom prst="rect">
            <a:avLst/>
          </a:prstGeom>
          <a:noFill/>
          <a:ln/>
        </p:spPr>
        <p:txBody>
          <a:bodyPr wrap="square" lIns="0" tIns="0" rIns="0" bIns="0" rtlCol="0" anchor="ctr"/>
          <a:lstStyle/>
          <a:p>
            <a:pPr marL="0" indent="0">
              <a:lnSpc>
                <a:spcPct val="125000"/>
              </a:lnSpc>
              <a:buNone/>
            </a:pPr>
            <a:r>
              <a:rPr lang="en-US" sz="1250" i="1" dirty="0">
                <a:solidFill>
                  <a:srgbClr val="5B6B7A"/>
                </a:solidFill>
                <a:latin typeface="Calibri" pitchFamily="34" charset="0"/>
                <a:ea typeface="Calibri" pitchFamily="34" charset="-122"/>
                <a:cs typeface="Calibri" pitchFamily="34" charset="-120"/>
              </a:rPr>
              <a:t>Design note: white background, blue headings, simple icons used across the report.</a:t>
            </a:r>
            <a:endParaRPr lang="en-US" sz="1250" dirty="0"/>
          </a:p>
        </p:txBody>
      </p:sp>
      <p:sp>
        <p:nvSpPr>
          <p:cNvPr id="16" name="Text 14"/>
          <p:cNvSpPr/>
          <p:nvPr/>
        </p:nvSpPr>
        <p:spPr>
          <a:xfrm>
            <a:off x="640080" y="6400800"/>
            <a:ext cx="7315200" cy="274320"/>
          </a:xfrm>
          <a:prstGeom prst="rect">
            <a:avLst/>
          </a:prstGeom>
          <a:noFill/>
          <a:ln/>
        </p:spPr>
        <p:txBody>
          <a:bodyPr wrap="square" lIns="0" tIns="0" rIns="0" bIns="0" rtlCol="0" anchor="ctr"/>
          <a:lstStyle/>
          <a:p>
            <a:pPr marL="0" indent="0">
              <a:buNone/>
            </a:pPr>
            <a:r>
              <a:rPr lang="en-US" sz="900" dirty="0">
                <a:solidFill>
                  <a:srgbClr val="5B6B7A"/>
                </a:solidFill>
                <a:latin typeface="Calibri" pitchFamily="34" charset="0"/>
                <a:ea typeface="Calibri" pitchFamily="34" charset="-122"/>
                <a:cs typeface="Calibri" pitchFamily="34" charset="-120"/>
              </a:rPr>
              <a:t>Mutual Fund Analytics  |  Bluestock FinTech Internship</a:t>
            </a:r>
            <a:endParaRPr lang="en-US" sz="900" dirty="0"/>
          </a:p>
        </p:txBody>
      </p:sp>
      <p:sp>
        <p:nvSpPr>
          <p:cNvPr id="17" name="Text 15"/>
          <p:cNvSpPr/>
          <p:nvPr/>
        </p:nvSpPr>
        <p:spPr>
          <a:xfrm>
            <a:off x="11091672" y="6400800"/>
            <a:ext cx="457200" cy="274320"/>
          </a:xfrm>
          <a:prstGeom prst="rect">
            <a:avLst/>
          </a:prstGeom>
          <a:noFill/>
          <a:ln/>
        </p:spPr>
        <p:txBody>
          <a:bodyPr wrap="square" lIns="0" tIns="0" rIns="0" bIns="0" rtlCol="0" anchor="ctr"/>
          <a:lstStyle/>
          <a:p>
            <a:pPr marL="0" indent="0" algn="r">
              <a:buNone/>
            </a:pPr>
            <a:r>
              <a:rPr lang="en-US" sz="900" dirty="0">
                <a:solidFill>
                  <a:srgbClr val="5B6B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822960"/>
          </a:xfrm>
          <a:prstGeom prst="rect">
            <a:avLst/>
          </a:prstGeom>
          <a:noFill/>
          <a:ln/>
        </p:spPr>
        <p:txBody>
          <a:bodyPr wrap="square" lIns="0" tIns="0" rIns="0" bIns="0" rtlCol="0" anchor="ctr"/>
          <a:lstStyle/>
          <a:p>
            <a:pPr marL="0" indent="0" algn="l">
              <a:buNone/>
            </a:pPr>
            <a:r>
              <a:rPr lang="en-US" sz="3200" b="1" dirty="0">
                <a:solidFill>
                  <a:srgbClr val="0B2545"/>
                </a:solidFill>
                <a:latin typeface="Cambria" pitchFamily="34" charset="0"/>
                <a:ea typeface="Cambria" pitchFamily="34" charset="-122"/>
                <a:cs typeface="Cambria" pitchFamily="34" charset="-120"/>
              </a:rPr>
              <a:t>Dataset Description</a:t>
            </a:r>
            <a:endParaRPr lang="en-US" sz="3200" dirty="0"/>
          </a:p>
        </p:txBody>
      </p:sp>
      <p:sp>
        <p:nvSpPr>
          <p:cNvPr id="3" name="Text 1"/>
          <p:cNvSpPr/>
          <p:nvPr/>
        </p:nvSpPr>
        <p:spPr>
          <a:xfrm>
            <a:off x="640080" y="1508760"/>
            <a:ext cx="10908792" cy="1234440"/>
          </a:xfrm>
          <a:prstGeom prst="rect">
            <a:avLst/>
          </a:prstGeom>
          <a:noFill/>
          <a:ln/>
        </p:spPr>
        <p:txBody>
          <a:bodyPr wrap="square" lIns="0" tIns="0" rIns="0" bIns="0" rtlCol="0" anchor="t"/>
          <a:lstStyle/>
          <a:p>
            <a:pPr marL="0" indent="0">
              <a:lnSpc>
                <a:spcPct val="130000"/>
              </a:lnSpc>
              <a:buNone/>
            </a:pPr>
            <a:r>
              <a:rPr lang="en-US" sz="1500" dirty="0">
                <a:solidFill>
                  <a:srgbClr val="2B3A4A"/>
                </a:solidFill>
                <a:latin typeface="Calibri" pitchFamily="34" charset="0"/>
                <a:ea typeface="Calibri" pitchFamily="34" charset="-122"/>
                <a:cs typeface="Calibri" pitchFamily="34" charset="-120"/>
              </a:rPr>
              <a:t>The project uses three datasets: NAV History (daily NAVs), Scheme Performance (returns, Sharpe, Alpha, Beta, CAGR, Max Drawdown), and Investor Transactions (age group, gender, city, state, transaction type, amount). These datasets enable time-series analysis, fund comparisons, and investor-segmentation insights.</a:t>
            </a:r>
            <a:endParaRPr lang="en-US" sz="1500" dirty="0"/>
          </a:p>
        </p:txBody>
      </p:sp>
      <p:sp>
        <p:nvSpPr>
          <p:cNvPr id="4" name="Shape 2"/>
          <p:cNvSpPr/>
          <p:nvPr/>
        </p:nvSpPr>
        <p:spPr>
          <a:xfrm>
            <a:off x="640080" y="3017520"/>
            <a:ext cx="3392424" cy="2651760"/>
          </a:xfrm>
          <a:prstGeom prst="roundRect">
            <a:avLst>
              <a:gd name="adj" fmla="val 3448"/>
            </a:avLst>
          </a:prstGeom>
          <a:solidFill>
            <a:srgbClr val="065A82"/>
          </a:solidFill>
          <a:ln/>
          <a:effectLst>
            <a:outerShdw blurRad="101600" dist="38100" dir="5400000" algn="bl" rotWithShape="0">
              <a:srgbClr val="1B2A38">
                <a:alpha val="12000"/>
              </a:srgbClr>
            </a:outerShdw>
          </a:effectLst>
        </p:spPr>
      </p:sp>
      <p:pic>
        <p:nvPicPr>
          <p:cNvPr id="5" name="Image 0" descr="preencoded.png"/>
          <p:cNvPicPr>
            <a:picLocks noChangeAspect="1"/>
          </p:cNvPicPr>
          <p:nvPr/>
        </p:nvPicPr>
        <p:blipFill>
          <a:blip r:embed="rId3"/>
          <a:stretch>
            <a:fillRect/>
          </a:stretch>
        </p:blipFill>
        <p:spPr>
          <a:xfrm>
            <a:off x="960120" y="3337560"/>
            <a:ext cx="457200" cy="457200"/>
          </a:xfrm>
          <a:prstGeom prst="rect">
            <a:avLst/>
          </a:prstGeom>
        </p:spPr>
      </p:pic>
      <p:sp>
        <p:nvSpPr>
          <p:cNvPr id="6" name="Text 3"/>
          <p:cNvSpPr/>
          <p:nvPr/>
        </p:nvSpPr>
        <p:spPr>
          <a:xfrm>
            <a:off x="960120" y="3977640"/>
            <a:ext cx="2752344"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NAV History</a:t>
            </a:r>
            <a:endParaRPr lang="en-US" sz="1500" dirty="0"/>
          </a:p>
        </p:txBody>
      </p:sp>
      <p:sp>
        <p:nvSpPr>
          <p:cNvPr id="7" name="Text 4"/>
          <p:cNvSpPr/>
          <p:nvPr/>
        </p:nvSpPr>
        <p:spPr>
          <a:xfrm>
            <a:off x="960120" y="4434840"/>
            <a:ext cx="2752344" cy="1097280"/>
          </a:xfrm>
          <a:prstGeom prst="rect">
            <a:avLst/>
          </a:prstGeom>
          <a:noFill/>
          <a:ln/>
        </p:spPr>
        <p:txBody>
          <a:bodyPr wrap="square" lIns="0" tIns="0" rIns="0" bIns="0" rtlCol="0" anchor="t"/>
          <a:lstStyle/>
          <a:p>
            <a:pPr marL="0" indent="0">
              <a:lnSpc>
                <a:spcPct val="125000"/>
              </a:lnSpc>
              <a:buNone/>
            </a:pPr>
            <a:r>
              <a:rPr lang="en-US" sz="1200" dirty="0">
                <a:solidFill>
                  <a:srgbClr val="D8E6EE"/>
                </a:solidFill>
                <a:latin typeface="Calibri" pitchFamily="34" charset="0"/>
                <a:ea typeface="Calibri" pitchFamily="34" charset="-122"/>
                <a:cs typeface="Calibri" pitchFamily="34" charset="-120"/>
              </a:rPr>
              <a:t>amfi_code, date, nav — daily NAV records used for time-series analysis.</a:t>
            </a:r>
            <a:endParaRPr lang="en-US" sz="1200" dirty="0"/>
          </a:p>
        </p:txBody>
      </p:sp>
      <p:sp>
        <p:nvSpPr>
          <p:cNvPr id="8" name="Shape 5"/>
          <p:cNvSpPr/>
          <p:nvPr/>
        </p:nvSpPr>
        <p:spPr>
          <a:xfrm>
            <a:off x="4398264" y="3017520"/>
            <a:ext cx="3392424" cy="2651760"/>
          </a:xfrm>
          <a:prstGeom prst="roundRect">
            <a:avLst>
              <a:gd name="adj" fmla="val 3448"/>
            </a:avLst>
          </a:prstGeom>
          <a:solidFill>
            <a:srgbClr val="065A82"/>
          </a:solidFill>
          <a:ln/>
          <a:effectLst>
            <a:outerShdw blurRad="101600" dist="38100" dir="5400000" algn="bl" rotWithShape="0">
              <a:srgbClr val="1B2A38">
                <a:alpha val="12000"/>
              </a:srgbClr>
            </a:outerShdw>
          </a:effectLst>
        </p:spPr>
      </p:sp>
      <p:pic>
        <p:nvPicPr>
          <p:cNvPr id="9" name="Image 1" descr="preencoded.png"/>
          <p:cNvPicPr>
            <a:picLocks noChangeAspect="1"/>
          </p:cNvPicPr>
          <p:nvPr/>
        </p:nvPicPr>
        <p:blipFill>
          <a:blip r:embed="rId4"/>
          <a:stretch>
            <a:fillRect/>
          </a:stretch>
        </p:blipFill>
        <p:spPr>
          <a:xfrm>
            <a:off x="4718304" y="3337560"/>
            <a:ext cx="457200" cy="457200"/>
          </a:xfrm>
          <a:prstGeom prst="rect">
            <a:avLst/>
          </a:prstGeom>
        </p:spPr>
      </p:pic>
      <p:sp>
        <p:nvSpPr>
          <p:cNvPr id="10" name="Text 6"/>
          <p:cNvSpPr/>
          <p:nvPr/>
        </p:nvSpPr>
        <p:spPr>
          <a:xfrm>
            <a:off x="4718304" y="3977640"/>
            <a:ext cx="2752344"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Scheme Performance</a:t>
            </a:r>
            <a:endParaRPr lang="en-US" sz="1500" dirty="0"/>
          </a:p>
        </p:txBody>
      </p:sp>
      <p:sp>
        <p:nvSpPr>
          <p:cNvPr id="11" name="Text 7"/>
          <p:cNvSpPr/>
          <p:nvPr/>
        </p:nvSpPr>
        <p:spPr>
          <a:xfrm>
            <a:off x="4718304" y="4434840"/>
            <a:ext cx="2752344" cy="1097280"/>
          </a:xfrm>
          <a:prstGeom prst="rect">
            <a:avLst/>
          </a:prstGeom>
          <a:noFill/>
          <a:ln/>
        </p:spPr>
        <p:txBody>
          <a:bodyPr wrap="square" lIns="0" tIns="0" rIns="0" bIns="0" rtlCol="0" anchor="t"/>
          <a:lstStyle/>
          <a:p>
            <a:pPr marL="0" indent="0">
              <a:lnSpc>
                <a:spcPct val="125000"/>
              </a:lnSpc>
              <a:buNone/>
            </a:pPr>
            <a:r>
              <a:rPr lang="en-US" sz="1200" dirty="0">
                <a:solidFill>
                  <a:srgbClr val="D8E6EE"/>
                </a:solidFill>
                <a:latin typeface="Calibri" pitchFamily="34" charset="0"/>
                <a:ea typeface="Calibri" pitchFamily="34" charset="-122"/>
                <a:cs typeface="Calibri" pitchFamily="34" charset="-120"/>
              </a:rPr>
              <a:t>fund house, category, plan, 1yr/3yr/5yr return, Sharpe, Alpha, Beta.</a:t>
            </a:r>
            <a:endParaRPr lang="en-US" sz="1200" dirty="0"/>
          </a:p>
        </p:txBody>
      </p:sp>
      <p:sp>
        <p:nvSpPr>
          <p:cNvPr id="12" name="Shape 8"/>
          <p:cNvSpPr/>
          <p:nvPr/>
        </p:nvSpPr>
        <p:spPr>
          <a:xfrm>
            <a:off x="8156448" y="3017520"/>
            <a:ext cx="3392424" cy="2651760"/>
          </a:xfrm>
          <a:prstGeom prst="roundRect">
            <a:avLst>
              <a:gd name="adj" fmla="val 3448"/>
            </a:avLst>
          </a:prstGeom>
          <a:solidFill>
            <a:srgbClr val="065A82"/>
          </a:solidFill>
          <a:ln/>
          <a:effectLst>
            <a:outerShdw blurRad="101600" dist="38100" dir="5400000" algn="bl" rotWithShape="0">
              <a:srgbClr val="1B2A38">
                <a:alpha val="12000"/>
              </a:srgbClr>
            </a:outerShdw>
          </a:effectLst>
        </p:spPr>
      </p:sp>
      <p:pic>
        <p:nvPicPr>
          <p:cNvPr id="13" name="Image 2" descr="preencoded.png"/>
          <p:cNvPicPr>
            <a:picLocks noChangeAspect="1"/>
          </p:cNvPicPr>
          <p:nvPr/>
        </p:nvPicPr>
        <p:blipFill>
          <a:blip r:embed="rId5"/>
          <a:stretch>
            <a:fillRect/>
          </a:stretch>
        </p:blipFill>
        <p:spPr>
          <a:xfrm>
            <a:off x="8476488" y="3337560"/>
            <a:ext cx="457200" cy="457200"/>
          </a:xfrm>
          <a:prstGeom prst="rect">
            <a:avLst/>
          </a:prstGeom>
        </p:spPr>
      </p:pic>
      <p:sp>
        <p:nvSpPr>
          <p:cNvPr id="14" name="Text 9"/>
          <p:cNvSpPr/>
          <p:nvPr/>
        </p:nvSpPr>
        <p:spPr>
          <a:xfrm>
            <a:off x="8476488" y="3977640"/>
            <a:ext cx="2752344"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Investor Transactions</a:t>
            </a:r>
            <a:endParaRPr lang="en-US" sz="1500" dirty="0"/>
          </a:p>
        </p:txBody>
      </p:sp>
      <p:sp>
        <p:nvSpPr>
          <p:cNvPr id="15" name="Text 10"/>
          <p:cNvSpPr/>
          <p:nvPr/>
        </p:nvSpPr>
        <p:spPr>
          <a:xfrm>
            <a:off x="8476488" y="4434840"/>
            <a:ext cx="2752344" cy="1097280"/>
          </a:xfrm>
          <a:prstGeom prst="rect">
            <a:avLst/>
          </a:prstGeom>
          <a:noFill/>
          <a:ln/>
        </p:spPr>
        <p:txBody>
          <a:bodyPr wrap="square" lIns="0" tIns="0" rIns="0" bIns="0" rtlCol="0" anchor="t"/>
          <a:lstStyle/>
          <a:p>
            <a:pPr marL="0" indent="0">
              <a:lnSpc>
                <a:spcPct val="125000"/>
              </a:lnSpc>
              <a:buNone/>
            </a:pPr>
            <a:r>
              <a:rPr lang="en-US" sz="1200" dirty="0">
                <a:solidFill>
                  <a:srgbClr val="D8E6EE"/>
                </a:solidFill>
                <a:latin typeface="Calibri" pitchFamily="34" charset="0"/>
                <a:ea typeface="Calibri" pitchFamily="34" charset="-122"/>
                <a:cs typeface="Calibri" pitchFamily="34" charset="-120"/>
              </a:rPr>
              <a:t>investor id, transaction type, amount, city, state, age group, gender.</a:t>
            </a:r>
            <a:endParaRPr lang="en-US" sz="1200" dirty="0"/>
          </a:p>
        </p:txBody>
      </p:sp>
      <p:sp>
        <p:nvSpPr>
          <p:cNvPr id="16" name="Text 11"/>
          <p:cNvSpPr/>
          <p:nvPr/>
        </p:nvSpPr>
        <p:spPr>
          <a:xfrm>
            <a:off x="640080" y="6400800"/>
            <a:ext cx="7315200" cy="274320"/>
          </a:xfrm>
          <a:prstGeom prst="rect">
            <a:avLst/>
          </a:prstGeom>
          <a:noFill/>
          <a:ln/>
        </p:spPr>
        <p:txBody>
          <a:bodyPr wrap="square" lIns="0" tIns="0" rIns="0" bIns="0" rtlCol="0" anchor="ctr"/>
          <a:lstStyle/>
          <a:p>
            <a:pPr marL="0" indent="0">
              <a:buNone/>
            </a:pPr>
            <a:r>
              <a:rPr lang="en-US" sz="900" dirty="0">
                <a:solidFill>
                  <a:srgbClr val="5B6B7A"/>
                </a:solidFill>
                <a:latin typeface="Calibri" pitchFamily="34" charset="0"/>
                <a:ea typeface="Calibri" pitchFamily="34" charset="-122"/>
                <a:cs typeface="Calibri" pitchFamily="34" charset="-120"/>
              </a:rPr>
              <a:t>Mutual Fund Analytics  |  Bluestock FinTech Internship</a:t>
            </a:r>
            <a:endParaRPr lang="en-US" sz="900" dirty="0"/>
          </a:p>
        </p:txBody>
      </p:sp>
      <p:sp>
        <p:nvSpPr>
          <p:cNvPr id="17" name="Text 12"/>
          <p:cNvSpPr/>
          <p:nvPr/>
        </p:nvSpPr>
        <p:spPr>
          <a:xfrm>
            <a:off x="11091672" y="6400800"/>
            <a:ext cx="457200" cy="274320"/>
          </a:xfrm>
          <a:prstGeom prst="rect">
            <a:avLst/>
          </a:prstGeom>
          <a:noFill/>
          <a:ln/>
        </p:spPr>
        <p:txBody>
          <a:bodyPr wrap="square" lIns="0" tIns="0" rIns="0" bIns="0" rtlCol="0" anchor="ctr"/>
          <a:lstStyle/>
          <a:p>
            <a:pPr marL="0" indent="0" algn="r">
              <a:buNone/>
            </a:pPr>
            <a:r>
              <a:rPr lang="en-US" sz="900" dirty="0">
                <a:solidFill>
                  <a:srgbClr val="5B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822960"/>
          </a:xfrm>
          <a:prstGeom prst="rect">
            <a:avLst/>
          </a:prstGeom>
          <a:noFill/>
          <a:ln/>
        </p:spPr>
        <p:txBody>
          <a:bodyPr wrap="square" lIns="0" tIns="0" rIns="0" bIns="0" rtlCol="0" anchor="ctr"/>
          <a:lstStyle/>
          <a:p>
            <a:pPr marL="0" indent="0" algn="l">
              <a:buNone/>
            </a:pPr>
            <a:r>
              <a:rPr lang="en-US" sz="3200" b="1" dirty="0">
                <a:solidFill>
                  <a:srgbClr val="0B2545"/>
                </a:solidFill>
                <a:latin typeface="Cambria" pitchFamily="34" charset="0"/>
                <a:ea typeface="Cambria" pitchFamily="34" charset="-122"/>
                <a:cs typeface="Cambria" pitchFamily="34" charset="-120"/>
              </a:rPr>
              <a:t>Project Setup &amp; Data Cleaning</a:t>
            </a:r>
            <a:endParaRPr lang="en-US" sz="3200" dirty="0"/>
          </a:p>
        </p:txBody>
      </p:sp>
      <p:sp>
        <p:nvSpPr>
          <p:cNvPr id="3" name="Shape 1"/>
          <p:cNvSpPr/>
          <p:nvPr/>
        </p:nvSpPr>
        <p:spPr>
          <a:xfrm>
            <a:off x="640080" y="1920240"/>
            <a:ext cx="502920" cy="502920"/>
          </a:xfrm>
          <a:prstGeom prst="ellipse">
            <a:avLst/>
          </a:prstGeom>
          <a:solidFill>
            <a:srgbClr val="0B2545"/>
          </a:solidFill>
          <a:ln/>
        </p:spPr>
      </p:sp>
      <p:sp>
        <p:nvSpPr>
          <p:cNvPr id="4" name="Text 2"/>
          <p:cNvSpPr/>
          <p:nvPr/>
        </p:nvSpPr>
        <p:spPr>
          <a:xfrm>
            <a:off x="640080" y="19202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Shape 3"/>
          <p:cNvSpPr/>
          <p:nvPr/>
        </p:nvSpPr>
        <p:spPr>
          <a:xfrm>
            <a:off x="640080" y="2606040"/>
            <a:ext cx="3392424" cy="2606040"/>
          </a:xfrm>
          <a:prstGeom prst="roundRect">
            <a:avLst>
              <a:gd name="adj" fmla="val 2807"/>
            </a:avLst>
          </a:prstGeom>
          <a:solidFill>
            <a:srgbClr val="F4F7F9"/>
          </a:solidFill>
          <a:ln w="12700">
            <a:solidFill>
              <a:srgbClr val="E1E7EC"/>
            </a:solidFill>
            <a:prstDash val="solid"/>
          </a:ln>
          <a:effectLst>
            <a:outerShdw blurRad="101600" dist="38100" dir="5400000" algn="bl" rotWithShape="0">
              <a:srgbClr val="1B2A38">
                <a:alpha val="8000"/>
              </a:srgbClr>
            </a:outerShdw>
          </a:effectLst>
        </p:spPr>
      </p:sp>
      <p:sp>
        <p:nvSpPr>
          <p:cNvPr id="6" name="Text 4"/>
          <p:cNvSpPr/>
          <p:nvPr/>
        </p:nvSpPr>
        <p:spPr>
          <a:xfrm>
            <a:off x="914400" y="2834640"/>
            <a:ext cx="2843784" cy="41148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Project Setup</a:t>
            </a:r>
            <a:endParaRPr lang="en-US" sz="1500" dirty="0"/>
          </a:p>
        </p:txBody>
      </p:sp>
      <p:sp>
        <p:nvSpPr>
          <p:cNvPr id="7" name="Text 5"/>
          <p:cNvSpPr/>
          <p:nvPr/>
        </p:nvSpPr>
        <p:spPr>
          <a:xfrm>
            <a:off x="914400" y="3291840"/>
            <a:ext cx="2843784" cy="1828800"/>
          </a:xfrm>
          <a:prstGeom prst="rect">
            <a:avLst/>
          </a:prstGeom>
          <a:noFill/>
          <a:ln/>
        </p:spPr>
        <p:txBody>
          <a:bodyPr wrap="square" lIns="0" tIns="0" rIns="0" bIns="0" rtlCol="0" anchor="t"/>
          <a:lstStyle/>
          <a:p>
            <a:pPr marL="0" indent="0">
              <a:lnSpc>
                <a:spcPct val="130000"/>
              </a:lnSpc>
              <a:buNone/>
            </a:pPr>
            <a:r>
              <a:rPr lang="en-US" sz="1250" dirty="0">
                <a:solidFill>
                  <a:srgbClr val="5B6B7A"/>
                </a:solidFill>
                <a:latin typeface="Calibri" pitchFamily="34" charset="0"/>
                <a:ea typeface="Calibri" pitchFamily="34" charset="-122"/>
                <a:cs typeface="Calibri" pitchFamily="34" charset="-120"/>
              </a:rPr>
              <a:t>Created folders, installed libraries, configured Jupyter, loaded datasets, and verified structure.</a:t>
            </a:r>
            <a:endParaRPr lang="en-US" sz="1250" dirty="0"/>
          </a:p>
        </p:txBody>
      </p:sp>
      <p:sp>
        <p:nvSpPr>
          <p:cNvPr id="8" name="Text 6"/>
          <p:cNvSpPr/>
          <p:nvPr/>
        </p:nvSpPr>
        <p:spPr>
          <a:xfrm>
            <a:off x="4050792" y="1920240"/>
            <a:ext cx="329184" cy="502920"/>
          </a:xfrm>
          <a:prstGeom prst="rect">
            <a:avLst/>
          </a:prstGeom>
          <a:noFill/>
          <a:ln/>
        </p:spPr>
        <p:txBody>
          <a:bodyPr wrap="square" lIns="0" tIns="0" rIns="0" bIns="0" rtlCol="0" anchor="ctr"/>
          <a:lstStyle/>
          <a:p>
            <a:pPr marL="0" indent="0" algn="ctr">
              <a:buNone/>
            </a:pPr>
            <a:r>
              <a:rPr lang="en-US" sz="2000" b="1" dirty="0">
                <a:solidFill>
                  <a:srgbClr val="17A398"/>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4398264" y="1920240"/>
            <a:ext cx="502920" cy="502920"/>
          </a:xfrm>
          <a:prstGeom prst="ellipse">
            <a:avLst/>
          </a:prstGeom>
          <a:solidFill>
            <a:srgbClr val="0B2545"/>
          </a:solidFill>
          <a:ln/>
        </p:spPr>
      </p:sp>
      <p:sp>
        <p:nvSpPr>
          <p:cNvPr id="10" name="Text 8"/>
          <p:cNvSpPr/>
          <p:nvPr/>
        </p:nvSpPr>
        <p:spPr>
          <a:xfrm>
            <a:off x="4398264" y="19202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Shape 9"/>
          <p:cNvSpPr/>
          <p:nvPr/>
        </p:nvSpPr>
        <p:spPr>
          <a:xfrm>
            <a:off x="4398264" y="2606040"/>
            <a:ext cx="3392424" cy="2606040"/>
          </a:xfrm>
          <a:prstGeom prst="roundRect">
            <a:avLst>
              <a:gd name="adj" fmla="val 2807"/>
            </a:avLst>
          </a:prstGeom>
          <a:solidFill>
            <a:srgbClr val="F4F7F9"/>
          </a:solidFill>
          <a:ln w="12700">
            <a:solidFill>
              <a:srgbClr val="E1E7EC"/>
            </a:solidFill>
            <a:prstDash val="solid"/>
          </a:ln>
          <a:effectLst>
            <a:outerShdw blurRad="101600" dist="38100" dir="5400000" algn="bl" rotWithShape="0">
              <a:srgbClr val="1B2A38">
                <a:alpha val="8000"/>
              </a:srgbClr>
            </a:outerShdw>
          </a:effectLst>
        </p:spPr>
      </p:sp>
      <p:sp>
        <p:nvSpPr>
          <p:cNvPr id="12" name="Text 10"/>
          <p:cNvSpPr/>
          <p:nvPr/>
        </p:nvSpPr>
        <p:spPr>
          <a:xfrm>
            <a:off x="4672584" y="2834640"/>
            <a:ext cx="2843784" cy="41148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Data Cleaning</a:t>
            </a:r>
            <a:endParaRPr lang="en-US" sz="1500" dirty="0"/>
          </a:p>
        </p:txBody>
      </p:sp>
      <p:sp>
        <p:nvSpPr>
          <p:cNvPr id="13" name="Text 11"/>
          <p:cNvSpPr/>
          <p:nvPr/>
        </p:nvSpPr>
        <p:spPr>
          <a:xfrm>
            <a:off x="4672584" y="3291840"/>
            <a:ext cx="2843784" cy="1828800"/>
          </a:xfrm>
          <a:prstGeom prst="rect">
            <a:avLst/>
          </a:prstGeom>
          <a:noFill/>
          <a:ln/>
        </p:spPr>
        <p:txBody>
          <a:bodyPr wrap="square" lIns="0" tIns="0" rIns="0" bIns="0" rtlCol="0" anchor="t"/>
          <a:lstStyle/>
          <a:p>
            <a:pPr marL="0" indent="0">
              <a:lnSpc>
                <a:spcPct val="130000"/>
              </a:lnSpc>
              <a:buNone/>
            </a:pPr>
            <a:r>
              <a:rPr lang="en-US" sz="1250" dirty="0">
                <a:solidFill>
                  <a:srgbClr val="5B6B7A"/>
                </a:solidFill>
                <a:latin typeface="Calibri" pitchFamily="34" charset="0"/>
                <a:ea typeface="Calibri" pitchFamily="34" charset="-122"/>
                <a:cs typeface="Calibri" pitchFamily="34" charset="-120"/>
              </a:rPr>
              <a:t>Removed duplicates, handled missing values, fixed types, renamed columns, formatted dates, and saved cleaned CSVs.</a:t>
            </a:r>
            <a:endParaRPr lang="en-US" sz="1250" dirty="0"/>
          </a:p>
        </p:txBody>
      </p:sp>
      <p:sp>
        <p:nvSpPr>
          <p:cNvPr id="14" name="Text 12"/>
          <p:cNvSpPr/>
          <p:nvPr/>
        </p:nvSpPr>
        <p:spPr>
          <a:xfrm>
            <a:off x="7808976" y="1920240"/>
            <a:ext cx="329184" cy="502920"/>
          </a:xfrm>
          <a:prstGeom prst="rect">
            <a:avLst/>
          </a:prstGeom>
          <a:noFill/>
          <a:ln/>
        </p:spPr>
        <p:txBody>
          <a:bodyPr wrap="square" lIns="0" tIns="0" rIns="0" bIns="0" rtlCol="0" anchor="ctr"/>
          <a:lstStyle/>
          <a:p>
            <a:pPr marL="0" indent="0" algn="ctr">
              <a:buNone/>
            </a:pPr>
            <a:r>
              <a:rPr lang="en-US" sz="2000" b="1" dirty="0">
                <a:solidFill>
                  <a:srgbClr val="17A398"/>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8156448" y="1920240"/>
            <a:ext cx="502920" cy="502920"/>
          </a:xfrm>
          <a:prstGeom prst="ellipse">
            <a:avLst/>
          </a:prstGeom>
          <a:solidFill>
            <a:srgbClr val="0B2545"/>
          </a:solidFill>
          <a:ln/>
        </p:spPr>
      </p:sp>
      <p:sp>
        <p:nvSpPr>
          <p:cNvPr id="16" name="Text 14"/>
          <p:cNvSpPr/>
          <p:nvPr/>
        </p:nvSpPr>
        <p:spPr>
          <a:xfrm>
            <a:off x="8156448" y="19202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Shape 15"/>
          <p:cNvSpPr/>
          <p:nvPr/>
        </p:nvSpPr>
        <p:spPr>
          <a:xfrm>
            <a:off x="8156448" y="2606040"/>
            <a:ext cx="3392424" cy="2606040"/>
          </a:xfrm>
          <a:prstGeom prst="roundRect">
            <a:avLst>
              <a:gd name="adj" fmla="val 2807"/>
            </a:avLst>
          </a:prstGeom>
          <a:solidFill>
            <a:srgbClr val="F4F7F9"/>
          </a:solidFill>
          <a:ln w="12700">
            <a:solidFill>
              <a:srgbClr val="E1E7EC"/>
            </a:solidFill>
            <a:prstDash val="solid"/>
          </a:ln>
          <a:effectLst>
            <a:outerShdw blurRad="101600" dist="38100" dir="5400000" algn="bl" rotWithShape="0">
              <a:srgbClr val="1B2A38">
                <a:alpha val="8000"/>
              </a:srgbClr>
            </a:outerShdw>
          </a:effectLst>
        </p:spPr>
      </p:sp>
      <p:sp>
        <p:nvSpPr>
          <p:cNvPr id="18" name="Text 16"/>
          <p:cNvSpPr/>
          <p:nvPr/>
        </p:nvSpPr>
        <p:spPr>
          <a:xfrm>
            <a:off x="8430768" y="2834640"/>
            <a:ext cx="2843784" cy="41148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Database</a:t>
            </a:r>
            <a:endParaRPr lang="en-US" sz="1500" dirty="0"/>
          </a:p>
        </p:txBody>
      </p:sp>
      <p:sp>
        <p:nvSpPr>
          <p:cNvPr id="19" name="Text 17"/>
          <p:cNvSpPr/>
          <p:nvPr/>
        </p:nvSpPr>
        <p:spPr>
          <a:xfrm>
            <a:off x="8430768" y="3291840"/>
            <a:ext cx="2843784" cy="1828800"/>
          </a:xfrm>
          <a:prstGeom prst="rect">
            <a:avLst/>
          </a:prstGeom>
          <a:noFill/>
          <a:ln/>
        </p:spPr>
        <p:txBody>
          <a:bodyPr wrap="square" lIns="0" tIns="0" rIns="0" bIns="0" rtlCol="0" anchor="t"/>
          <a:lstStyle/>
          <a:p>
            <a:pPr marL="0" indent="0">
              <a:lnSpc>
                <a:spcPct val="130000"/>
              </a:lnSpc>
              <a:buNone/>
            </a:pPr>
            <a:r>
              <a:rPr lang="en-US" sz="1250" dirty="0">
                <a:solidFill>
                  <a:srgbClr val="5B6B7A"/>
                </a:solidFill>
                <a:latin typeface="Calibri" pitchFamily="34" charset="0"/>
                <a:ea typeface="Calibri" pitchFamily="34" charset="-122"/>
                <a:cs typeface="Calibri" pitchFamily="34" charset="-120"/>
              </a:rPr>
              <a:t>Imported cleaned data into a SQLite database for efficient queries.</a:t>
            </a:r>
            <a:endParaRPr lang="en-US" sz="1250" dirty="0"/>
          </a:p>
        </p:txBody>
      </p:sp>
      <p:sp>
        <p:nvSpPr>
          <p:cNvPr id="20" name="Text 18"/>
          <p:cNvSpPr/>
          <p:nvPr/>
        </p:nvSpPr>
        <p:spPr>
          <a:xfrm>
            <a:off x="640080" y="6400800"/>
            <a:ext cx="7315200" cy="274320"/>
          </a:xfrm>
          <a:prstGeom prst="rect">
            <a:avLst/>
          </a:prstGeom>
          <a:noFill/>
          <a:ln/>
        </p:spPr>
        <p:txBody>
          <a:bodyPr wrap="square" lIns="0" tIns="0" rIns="0" bIns="0" rtlCol="0" anchor="ctr"/>
          <a:lstStyle/>
          <a:p>
            <a:pPr marL="0" indent="0">
              <a:buNone/>
            </a:pPr>
            <a:r>
              <a:rPr lang="en-US" sz="900" dirty="0">
                <a:solidFill>
                  <a:srgbClr val="5B6B7A"/>
                </a:solidFill>
                <a:latin typeface="Calibri" pitchFamily="34" charset="0"/>
                <a:ea typeface="Calibri" pitchFamily="34" charset="-122"/>
                <a:cs typeface="Calibri" pitchFamily="34" charset="-120"/>
              </a:rPr>
              <a:t>Mutual Fund Analytics  |  Bluestock FinTech Internship</a:t>
            </a:r>
            <a:endParaRPr lang="en-US" sz="900" dirty="0"/>
          </a:p>
        </p:txBody>
      </p:sp>
      <p:sp>
        <p:nvSpPr>
          <p:cNvPr id="21" name="Text 19"/>
          <p:cNvSpPr/>
          <p:nvPr/>
        </p:nvSpPr>
        <p:spPr>
          <a:xfrm>
            <a:off x="11091672" y="6400800"/>
            <a:ext cx="457200" cy="274320"/>
          </a:xfrm>
          <a:prstGeom prst="rect">
            <a:avLst/>
          </a:prstGeom>
          <a:noFill/>
          <a:ln/>
        </p:spPr>
        <p:txBody>
          <a:bodyPr wrap="square" lIns="0" tIns="0" rIns="0" bIns="0" rtlCol="0" anchor="ctr"/>
          <a:lstStyle/>
          <a:p>
            <a:pPr marL="0" indent="0" algn="r">
              <a:buNone/>
            </a:pPr>
            <a:r>
              <a:rPr lang="en-US" sz="900" dirty="0">
                <a:solidFill>
                  <a:srgbClr val="5B6B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822960"/>
          </a:xfrm>
          <a:prstGeom prst="rect">
            <a:avLst/>
          </a:prstGeom>
          <a:noFill/>
          <a:ln/>
        </p:spPr>
        <p:txBody>
          <a:bodyPr wrap="square" lIns="0" tIns="0" rIns="0" bIns="0" rtlCol="0" anchor="ctr"/>
          <a:lstStyle/>
          <a:p>
            <a:pPr marL="0" indent="0" algn="l">
              <a:buNone/>
            </a:pPr>
            <a:r>
              <a:rPr lang="en-US" sz="3200" b="1" dirty="0">
                <a:solidFill>
                  <a:srgbClr val="0B2545"/>
                </a:solidFill>
                <a:latin typeface="Cambria" pitchFamily="34" charset="0"/>
                <a:ea typeface="Cambria" pitchFamily="34" charset="-122"/>
                <a:cs typeface="Cambria" pitchFamily="34" charset="-120"/>
              </a:rPr>
              <a:t>Exploratory Data Analysis (EDA)</a:t>
            </a:r>
            <a:endParaRPr lang="en-US" sz="3200" dirty="0"/>
          </a:p>
        </p:txBody>
      </p:sp>
      <p:sp>
        <p:nvSpPr>
          <p:cNvPr id="3" name="Text 1"/>
          <p:cNvSpPr/>
          <p:nvPr/>
        </p:nvSpPr>
        <p:spPr>
          <a:xfrm>
            <a:off x="640080" y="1463040"/>
            <a:ext cx="10908792" cy="1051560"/>
          </a:xfrm>
          <a:prstGeom prst="rect">
            <a:avLst/>
          </a:prstGeom>
          <a:noFill/>
          <a:ln/>
        </p:spPr>
        <p:txBody>
          <a:bodyPr wrap="square" lIns="0" tIns="0" rIns="0" bIns="0" rtlCol="0" anchor="t"/>
          <a:lstStyle/>
          <a:p>
            <a:pPr marL="0" indent="0">
              <a:lnSpc>
                <a:spcPct val="130000"/>
              </a:lnSpc>
              <a:buNone/>
            </a:pPr>
            <a:r>
              <a:rPr lang="en-US" sz="1500" dirty="0">
                <a:solidFill>
                  <a:srgbClr val="2B3A4A"/>
                </a:solidFill>
                <a:latin typeface="Calibri" pitchFamily="34" charset="0"/>
                <a:ea typeface="Calibri" pitchFamily="34" charset="-122"/>
                <a:cs typeface="Calibri" pitchFamily="34" charset="-120"/>
              </a:rPr>
              <a:t>EDA explored investor behavior and fund patterns: age group, gender split, state-wise investment, transaction types, monthly trends, and city-tier activity. Key observations: most investments came from the 26–35 age group, SIP was the common investment type, and metro cities showed higher activity.</a:t>
            </a:r>
            <a:endParaRPr lang="en-US" sz="1500" dirty="0"/>
          </a:p>
        </p:txBody>
      </p:sp>
      <p:sp>
        <p:nvSpPr>
          <p:cNvPr id="4" name="Shape 2"/>
          <p:cNvSpPr/>
          <p:nvPr/>
        </p:nvSpPr>
        <p:spPr>
          <a:xfrm>
            <a:off x="640080" y="2788920"/>
            <a:ext cx="3392424" cy="3291840"/>
          </a:xfrm>
          <a:prstGeom prst="roundRect">
            <a:avLst>
              <a:gd name="adj" fmla="val 2222"/>
            </a:avLst>
          </a:prstGeom>
          <a:solidFill>
            <a:srgbClr val="FFFFFF"/>
          </a:solidFill>
          <a:ln w="12700">
            <a:solidFill>
              <a:srgbClr val="E1E7EC"/>
            </a:solidFill>
            <a:prstDash val="solid"/>
          </a:ln>
          <a:effectLst>
            <a:outerShdw blurRad="101600" dist="38100" dir="5400000" algn="bl" rotWithShape="0">
              <a:srgbClr val="1B2A38">
                <a:alpha val="8000"/>
              </a:srgbClr>
            </a:outerShdw>
          </a:effectLst>
        </p:spPr>
      </p:sp>
      <p:graphicFrame>
        <p:nvGraphicFramePr>
          <p:cNvPr id="5" name="Chart 0"/>
          <p:cNvGraphicFramePr/>
          <p:nvPr/>
        </p:nvGraphicFramePr>
        <p:xfrm>
          <a:off x="777240" y="2926080"/>
          <a:ext cx="3118104" cy="19659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868680" y="5029200"/>
            <a:ext cx="2935224" cy="32004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Age Group</a:t>
            </a:r>
            <a:endParaRPr lang="en-US" sz="1400" dirty="0"/>
          </a:p>
        </p:txBody>
      </p:sp>
      <p:sp>
        <p:nvSpPr>
          <p:cNvPr id="7" name="Text 4"/>
          <p:cNvSpPr/>
          <p:nvPr/>
        </p:nvSpPr>
        <p:spPr>
          <a:xfrm>
            <a:off x="868680" y="5376672"/>
            <a:ext cx="2935224" cy="640080"/>
          </a:xfrm>
          <a:prstGeom prst="rect">
            <a:avLst/>
          </a:prstGeom>
          <a:noFill/>
          <a:ln/>
        </p:spPr>
        <p:txBody>
          <a:bodyPr wrap="square" lIns="0" tIns="0" rIns="0" bIns="0" rtlCol="0" anchor="t"/>
          <a:lstStyle/>
          <a:p>
            <a:pPr marL="0" indent="0">
              <a:lnSpc>
                <a:spcPct val="120000"/>
              </a:lnSpc>
              <a:buNone/>
            </a:pPr>
            <a:r>
              <a:rPr lang="en-US" sz="1150" dirty="0">
                <a:solidFill>
                  <a:srgbClr val="5B6B7A"/>
                </a:solidFill>
                <a:latin typeface="Calibri" pitchFamily="34" charset="0"/>
                <a:ea typeface="Calibri" pitchFamily="34" charset="-122"/>
                <a:cs typeface="Calibri" pitchFamily="34" charset="-120"/>
              </a:rPr>
              <a:t>26–35 is the dominant investor group.</a:t>
            </a:r>
            <a:endParaRPr lang="en-US" sz="1150" dirty="0"/>
          </a:p>
        </p:txBody>
      </p:sp>
      <p:sp>
        <p:nvSpPr>
          <p:cNvPr id="8" name="Shape 5"/>
          <p:cNvSpPr/>
          <p:nvPr/>
        </p:nvSpPr>
        <p:spPr>
          <a:xfrm>
            <a:off x="4398264" y="2788920"/>
            <a:ext cx="3392424" cy="3291840"/>
          </a:xfrm>
          <a:prstGeom prst="roundRect">
            <a:avLst>
              <a:gd name="adj" fmla="val 2222"/>
            </a:avLst>
          </a:prstGeom>
          <a:solidFill>
            <a:srgbClr val="FFFFFF"/>
          </a:solidFill>
          <a:ln w="12700">
            <a:solidFill>
              <a:srgbClr val="E1E7EC"/>
            </a:solidFill>
            <a:prstDash val="solid"/>
          </a:ln>
          <a:effectLst>
            <a:outerShdw blurRad="101600" dist="38100" dir="5400000" algn="bl" rotWithShape="0">
              <a:srgbClr val="1B2A38">
                <a:alpha val="8000"/>
              </a:srgbClr>
            </a:outerShdw>
          </a:effectLst>
        </p:spPr>
      </p:sp>
      <p:pic>
        <p:nvPicPr>
          <p:cNvPr id="9" name="Image 0" descr="/mnt/user-data/uploads/1783450507495__8605DA7B-E323-47B5-B5ED-117D61578A51_.png"/>
          <p:cNvPicPr>
            <a:picLocks noChangeAspect="1"/>
          </p:cNvPicPr>
          <p:nvPr/>
        </p:nvPicPr>
        <p:blipFill>
          <a:blip r:embed="rId4"/>
          <a:stretch>
            <a:fillRect/>
          </a:stretch>
        </p:blipFill>
        <p:spPr>
          <a:xfrm>
            <a:off x="5015583" y="2971800"/>
            <a:ext cx="2157785" cy="1783080"/>
          </a:xfrm>
          <a:prstGeom prst="rect">
            <a:avLst/>
          </a:prstGeom>
        </p:spPr>
      </p:pic>
      <p:sp>
        <p:nvSpPr>
          <p:cNvPr id="10" name="Text 6"/>
          <p:cNvSpPr/>
          <p:nvPr/>
        </p:nvSpPr>
        <p:spPr>
          <a:xfrm>
            <a:off x="4626864" y="5029200"/>
            <a:ext cx="2935224" cy="32004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Transaction Type</a:t>
            </a:r>
            <a:endParaRPr lang="en-US" sz="1400" dirty="0"/>
          </a:p>
        </p:txBody>
      </p:sp>
      <p:sp>
        <p:nvSpPr>
          <p:cNvPr id="11" name="Text 7"/>
          <p:cNvSpPr/>
          <p:nvPr/>
        </p:nvSpPr>
        <p:spPr>
          <a:xfrm>
            <a:off x="4626864" y="5376672"/>
            <a:ext cx="2935224" cy="640080"/>
          </a:xfrm>
          <a:prstGeom prst="rect">
            <a:avLst/>
          </a:prstGeom>
          <a:noFill/>
          <a:ln/>
        </p:spPr>
        <p:txBody>
          <a:bodyPr wrap="square" lIns="0" tIns="0" rIns="0" bIns="0" rtlCol="0" anchor="t"/>
          <a:lstStyle/>
          <a:p>
            <a:pPr marL="0" indent="0">
              <a:lnSpc>
                <a:spcPct val="120000"/>
              </a:lnSpc>
              <a:buNone/>
            </a:pPr>
            <a:r>
              <a:rPr lang="en-US" sz="1150" dirty="0">
                <a:solidFill>
                  <a:srgbClr val="5B6B7A"/>
                </a:solidFill>
                <a:latin typeface="Calibri" pitchFamily="34" charset="0"/>
                <a:ea typeface="Calibri" pitchFamily="34" charset="-122"/>
                <a:cs typeface="Calibri" pitchFamily="34" charset="-120"/>
              </a:rPr>
              <a:t>SIP is the most common investment method.</a:t>
            </a:r>
            <a:endParaRPr lang="en-US" sz="1150" dirty="0"/>
          </a:p>
        </p:txBody>
      </p:sp>
      <p:sp>
        <p:nvSpPr>
          <p:cNvPr id="12" name="Shape 8"/>
          <p:cNvSpPr/>
          <p:nvPr/>
        </p:nvSpPr>
        <p:spPr>
          <a:xfrm>
            <a:off x="8156448" y="2788920"/>
            <a:ext cx="3392424" cy="3291840"/>
          </a:xfrm>
          <a:prstGeom prst="roundRect">
            <a:avLst>
              <a:gd name="adj" fmla="val 2222"/>
            </a:avLst>
          </a:prstGeom>
          <a:solidFill>
            <a:srgbClr val="FFFFFF"/>
          </a:solidFill>
          <a:ln w="12700">
            <a:solidFill>
              <a:srgbClr val="E1E7EC"/>
            </a:solidFill>
            <a:prstDash val="solid"/>
          </a:ln>
          <a:effectLst>
            <a:outerShdw blurRad="101600" dist="38100" dir="5400000" algn="bl" rotWithShape="0">
              <a:srgbClr val="1B2A38">
                <a:alpha val="8000"/>
              </a:srgbClr>
            </a:outerShdw>
          </a:effectLst>
        </p:spPr>
      </p:sp>
      <p:pic>
        <p:nvPicPr>
          <p:cNvPr id="13" name="Image 1" descr="/mnt/user-data/uploads/1783450635705__13CDC3DB-FD23-467B-B446-350A2B30462B_.png"/>
          <p:cNvPicPr>
            <a:picLocks noChangeAspect="1"/>
          </p:cNvPicPr>
          <p:nvPr/>
        </p:nvPicPr>
        <p:blipFill>
          <a:blip r:embed="rId5"/>
          <a:stretch>
            <a:fillRect/>
          </a:stretch>
        </p:blipFill>
        <p:spPr>
          <a:xfrm>
            <a:off x="8987342" y="2971800"/>
            <a:ext cx="1730636" cy="1783080"/>
          </a:xfrm>
          <a:prstGeom prst="rect">
            <a:avLst/>
          </a:prstGeom>
        </p:spPr>
      </p:pic>
      <p:sp>
        <p:nvSpPr>
          <p:cNvPr id="14" name="Text 9"/>
          <p:cNvSpPr/>
          <p:nvPr/>
        </p:nvSpPr>
        <p:spPr>
          <a:xfrm>
            <a:off x="8385048" y="5029200"/>
            <a:ext cx="2935224" cy="32004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State-wise</a:t>
            </a:r>
            <a:endParaRPr lang="en-US" sz="1400" dirty="0"/>
          </a:p>
        </p:txBody>
      </p:sp>
      <p:sp>
        <p:nvSpPr>
          <p:cNvPr id="15" name="Text 10"/>
          <p:cNvSpPr/>
          <p:nvPr/>
        </p:nvSpPr>
        <p:spPr>
          <a:xfrm>
            <a:off x="8385048" y="5376672"/>
            <a:ext cx="2935224" cy="640080"/>
          </a:xfrm>
          <a:prstGeom prst="rect">
            <a:avLst/>
          </a:prstGeom>
          <a:noFill/>
          <a:ln/>
        </p:spPr>
        <p:txBody>
          <a:bodyPr wrap="square" lIns="0" tIns="0" rIns="0" bIns="0" rtlCol="0" anchor="t"/>
          <a:lstStyle/>
          <a:p>
            <a:pPr marL="0" indent="0">
              <a:lnSpc>
                <a:spcPct val="120000"/>
              </a:lnSpc>
              <a:buNone/>
            </a:pPr>
            <a:r>
              <a:rPr lang="en-US" sz="1150" dirty="0">
                <a:solidFill>
                  <a:srgbClr val="5B6B7A"/>
                </a:solidFill>
                <a:latin typeface="Calibri" pitchFamily="34" charset="0"/>
                <a:ea typeface="Calibri" pitchFamily="34" charset="-122"/>
                <a:cs typeface="Calibri" pitchFamily="34" charset="-120"/>
              </a:rPr>
              <a:t>Some states contribute higher total investments.</a:t>
            </a:r>
            <a:endParaRPr lang="en-US" sz="1150" dirty="0"/>
          </a:p>
        </p:txBody>
      </p:sp>
      <p:sp>
        <p:nvSpPr>
          <p:cNvPr id="16" name="Text 11"/>
          <p:cNvSpPr/>
          <p:nvPr/>
        </p:nvSpPr>
        <p:spPr>
          <a:xfrm>
            <a:off x="640080" y="6400800"/>
            <a:ext cx="7315200" cy="274320"/>
          </a:xfrm>
          <a:prstGeom prst="rect">
            <a:avLst/>
          </a:prstGeom>
          <a:noFill/>
          <a:ln/>
        </p:spPr>
        <p:txBody>
          <a:bodyPr wrap="square" lIns="0" tIns="0" rIns="0" bIns="0" rtlCol="0" anchor="ctr"/>
          <a:lstStyle/>
          <a:p>
            <a:pPr marL="0" indent="0">
              <a:buNone/>
            </a:pPr>
            <a:r>
              <a:rPr lang="en-US" sz="900" dirty="0">
                <a:solidFill>
                  <a:srgbClr val="5B6B7A"/>
                </a:solidFill>
                <a:latin typeface="Calibri" pitchFamily="34" charset="0"/>
                <a:ea typeface="Calibri" pitchFamily="34" charset="-122"/>
                <a:cs typeface="Calibri" pitchFamily="34" charset="-120"/>
              </a:rPr>
              <a:t>Mutual Fund Analytics  |  Bluestock FinTech Internship</a:t>
            </a:r>
            <a:endParaRPr lang="en-US" sz="900" dirty="0"/>
          </a:p>
        </p:txBody>
      </p:sp>
      <p:sp>
        <p:nvSpPr>
          <p:cNvPr id="17" name="Text 12"/>
          <p:cNvSpPr/>
          <p:nvPr/>
        </p:nvSpPr>
        <p:spPr>
          <a:xfrm>
            <a:off x="11091672" y="6400800"/>
            <a:ext cx="457200" cy="274320"/>
          </a:xfrm>
          <a:prstGeom prst="rect">
            <a:avLst/>
          </a:prstGeom>
          <a:noFill/>
          <a:ln/>
        </p:spPr>
        <p:txBody>
          <a:bodyPr wrap="square" lIns="0" tIns="0" rIns="0" bIns="0" rtlCol="0" anchor="ctr"/>
          <a:lstStyle/>
          <a:p>
            <a:pPr marL="0" indent="0" algn="r">
              <a:buNone/>
            </a:pPr>
            <a:r>
              <a:rPr lang="en-US" sz="900" dirty="0">
                <a:solidFill>
                  <a:srgbClr val="5B6B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822960"/>
          </a:xfrm>
          <a:prstGeom prst="rect">
            <a:avLst/>
          </a:prstGeom>
          <a:noFill/>
          <a:ln/>
        </p:spPr>
        <p:txBody>
          <a:bodyPr wrap="square" lIns="0" tIns="0" rIns="0" bIns="0" rtlCol="0" anchor="ctr"/>
          <a:lstStyle/>
          <a:p>
            <a:pPr marL="0" indent="0" algn="l">
              <a:buNone/>
            </a:pPr>
            <a:r>
              <a:rPr lang="en-US" sz="3200" b="1" dirty="0">
                <a:solidFill>
                  <a:srgbClr val="0B2545"/>
                </a:solidFill>
                <a:latin typeface="Cambria" pitchFamily="34" charset="0"/>
                <a:ea typeface="Cambria" pitchFamily="34" charset="-122"/>
                <a:cs typeface="Cambria" pitchFamily="34" charset="-120"/>
              </a:rPr>
              <a:t>Performance Analytics</a:t>
            </a:r>
            <a:endParaRPr lang="en-US" sz="3200" dirty="0"/>
          </a:p>
        </p:txBody>
      </p:sp>
      <p:sp>
        <p:nvSpPr>
          <p:cNvPr id="3" name="Text 1"/>
          <p:cNvSpPr/>
          <p:nvPr/>
        </p:nvSpPr>
        <p:spPr>
          <a:xfrm>
            <a:off x="640080" y="1463040"/>
            <a:ext cx="10908792" cy="960120"/>
          </a:xfrm>
          <a:prstGeom prst="rect">
            <a:avLst/>
          </a:prstGeom>
          <a:noFill/>
          <a:ln/>
        </p:spPr>
        <p:txBody>
          <a:bodyPr wrap="square" lIns="0" tIns="0" rIns="0" bIns="0" rtlCol="0" anchor="t"/>
          <a:lstStyle/>
          <a:p>
            <a:pPr marL="0" indent="0">
              <a:lnSpc>
                <a:spcPct val="130000"/>
              </a:lnSpc>
              <a:buNone/>
            </a:pPr>
            <a:r>
              <a:rPr lang="en-US" sz="1450" dirty="0">
                <a:solidFill>
                  <a:srgbClr val="2B3A4A"/>
                </a:solidFill>
                <a:latin typeface="Calibri" pitchFamily="34" charset="0"/>
                <a:ea typeface="Calibri" pitchFamily="34" charset="-122"/>
                <a:cs typeface="Calibri" pitchFamily="34" charset="-120"/>
              </a:rPr>
              <a:t>Performance metrics computed: daily returns, CAGR, Sharpe Ratio, Sortino Ratio, Alpha, Beta, and Maximum Drawdown. These metrics were used to compare risk/return and identify top funds against market benchmarks.</a:t>
            </a:r>
            <a:endParaRPr lang="en-US" sz="1450" dirty="0"/>
          </a:p>
        </p:txBody>
      </p:sp>
      <p:sp>
        <p:nvSpPr>
          <p:cNvPr id="4" name="Shape 2"/>
          <p:cNvSpPr/>
          <p:nvPr/>
        </p:nvSpPr>
        <p:spPr>
          <a:xfrm>
            <a:off x="502920" y="2377440"/>
            <a:ext cx="5321378" cy="4069080"/>
          </a:xfrm>
          <a:prstGeom prst="roundRect">
            <a:avLst>
              <a:gd name="adj" fmla="val 1798"/>
            </a:avLst>
          </a:prstGeom>
          <a:solidFill>
            <a:srgbClr val="FFFFFF"/>
          </a:solidFill>
          <a:ln w="12700">
            <a:solidFill>
              <a:srgbClr val="E1E7EC"/>
            </a:solidFill>
            <a:prstDash val="solid"/>
          </a:ln>
          <a:effectLst>
            <a:outerShdw blurRad="101600" dist="38100" dir="5400000" algn="bl" rotWithShape="0">
              <a:srgbClr val="1B2A38">
                <a:alpha val="8000"/>
              </a:srgbClr>
            </a:outerShdw>
          </a:effectLst>
        </p:spPr>
      </p:sp>
      <p:pic>
        <p:nvPicPr>
          <p:cNvPr id="5" name="Image 0" descr="/mnt/user-data/uploads/1783452346514_image.png"/>
          <p:cNvPicPr>
            <a:picLocks noChangeAspect="1"/>
          </p:cNvPicPr>
          <p:nvPr/>
        </p:nvPicPr>
        <p:blipFill>
          <a:blip r:embed="rId3"/>
          <a:stretch>
            <a:fillRect/>
          </a:stretch>
        </p:blipFill>
        <p:spPr>
          <a:xfrm>
            <a:off x="640080" y="2514600"/>
            <a:ext cx="5047058" cy="3794760"/>
          </a:xfrm>
          <a:prstGeom prst="rect">
            <a:avLst/>
          </a:prstGeom>
        </p:spPr>
      </p:pic>
      <p:sp>
        <p:nvSpPr>
          <p:cNvPr id="6" name="Shape 3"/>
          <p:cNvSpPr/>
          <p:nvPr/>
        </p:nvSpPr>
        <p:spPr>
          <a:xfrm>
            <a:off x="6235778" y="2569464"/>
            <a:ext cx="100584" cy="100584"/>
          </a:xfrm>
          <a:prstGeom prst="ellipse">
            <a:avLst/>
          </a:prstGeom>
          <a:solidFill>
            <a:srgbClr val="17A398"/>
          </a:solidFill>
          <a:ln/>
        </p:spPr>
      </p:sp>
      <p:sp>
        <p:nvSpPr>
          <p:cNvPr id="7" name="Text 4"/>
          <p:cNvSpPr/>
          <p:nvPr/>
        </p:nvSpPr>
        <p:spPr>
          <a:xfrm>
            <a:off x="6510098" y="2468880"/>
            <a:ext cx="5038774" cy="320040"/>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CAGR</a:t>
            </a:r>
            <a:endParaRPr lang="en-US" sz="1350" dirty="0"/>
          </a:p>
        </p:txBody>
      </p:sp>
      <p:sp>
        <p:nvSpPr>
          <p:cNvPr id="8" name="Text 5"/>
          <p:cNvSpPr/>
          <p:nvPr/>
        </p:nvSpPr>
        <p:spPr>
          <a:xfrm>
            <a:off x="6510098" y="2788920"/>
            <a:ext cx="5038774" cy="438912"/>
          </a:xfrm>
          <a:prstGeom prst="rect">
            <a:avLst/>
          </a:prstGeom>
          <a:noFill/>
          <a:ln/>
        </p:spPr>
        <p:txBody>
          <a:bodyPr wrap="square" lIns="0" tIns="0" rIns="0" bIns="0" rtlCol="0" anchor="t"/>
          <a:lstStyle/>
          <a:p>
            <a:pPr marL="0" indent="0">
              <a:lnSpc>
                <a:spcPct val="120000"/>
              </a:lnSpc>
              <a:buNone/>
            </a:pPr>
            <a:r>
              <a:rPr lang="en-US" sz="1100" dirty="0">
                <a:solidFill>
                  <a:srgbClr val="5B6B7A"/>
                </a:solidFill>
                <a:latin typeface="Calibri" pitchFamily="34" charset="0"/>
                <a:ea typeface="Calibri" pitchFamily="34" charset="-122"/>
                <a:cs typeface="Calibri" pitchFamily="34" charset="-120"/>
              </a:rPr>
              <a:t>Compound annual growth rate of each fund.</a:t>
            </a:r>
            <a:endParaRPr lang="en-US" sz="1100" dirty="0"/>
          </a:p>
        </p:txBody>
      </p:sp>
      <p:sp>
        <p:nvSpPr>
          <p:cNvPr id="9" name="Shape 6"/>
          <p:cNvSpPr/>
          <p:nvPr/>
        </p:nvSpPr>
        <p:spPr>
          <a:xfrm>
            <a:off x="6235778" y="3328416"/>
            <a:ext cx="100584" cy="100584"/>
          </a:xfrm>
          <a:prstGeom prst="ellipse">
            <a:avLst/>
          </a:prstGeom>
          <a:solidFill>
            <a:srgbClr val="17A398"/>
          </a:solidFill>
          <a:ln/>
        </p:spPr>
      </p:sp>
      <p:sp>
        <p:nvSpPr>
          <p:cNvPr id="10" name="Text 7"/>
          <p:cNvSpPr/>
          <p:nvPr/>
        </p:nvSpPr>
        <p:spPr>
          <a:xfrm>
            <a:off x="6510098" y="3227832"/>
            <a:ext cx="5038774" cy="320040"/>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Sharpe Ratio</a:t>
            </a:r>
            <a:endParaRPr lang="en-US" sz="1350" dirty="0"/>
          </a:p>
        </p:txBody>
      </p:sp>
      <p:sp>
        <p:nvSpPr>
          <p:cNvPr id="11" name="Text 8"/>
          <p:cNvSpPr/>
          <p:nvPr/>
        </p:nvSpPr>
        <p:spPr>
          <a:xfrm>
            <a:off x="6510098" y="3547872"/>
            <a:ext cx="5038774" cy="438912"/>
          </a:xfrm>
          <a:prstGeom prst="rect">
            <a:avLst/>
          </a:prstGeom>
          <a:noFill/>
          <a:ln/>
        </p:spPr>
        <p:txBody>
          <a:bodyPr wrap="square" lIns="0" tIns="0" rIns="0" bIns="0" rtlCol="0" anchor="t"/>
          <a:lstStyle/>
          <a:p>
            <a:pPr marL="0" indent="0">
              <a:lnSpc>
                <a:spcPct val="120000"/>
              </a:lnSpc>
              <a:buNone/>
            </a:pPr>
            <a:r>
              <a:rPr lang="en-US" sz="1100" dirty="0">
                <a:solidFill>
                  <a:srgbClr val="5B6B7A"/>
                </a:solidFill>
                <a:latin typeface="Calibri" pitchFamily="34" charset="0"/>
                <a:ea typeface="Calibri" pitchFamily="34" charset="-122"/>
                <a:cs typeface="Calibri" pitchFamily="34" charset="-120"/>
              </a:rPr>
              <a:t>Risk-adjusted return versus volatility.</a:t>
            </a:r>
            <a:endParaRPr lang="en-US" sz="1100" dirty="0"/>
          </a:p>
        </p:txBody>
      </p:sp>
      <p:sp>
        <p:nvSpPr>
          <p:cNvPr id="12" name="Shape 9"/>
          <p:cNvSpPr/>
          <p:nvPr/>
        </p:nvSpPr>
        <p:spPr>
          <a:xfrm>
            <a:off x="6235778" y="4087368"/>
            <a:ext cx="100584" cy="100584"/>
          </a:xfrm>
          <a:prstGeom prst="ellipse">
            <a:avLst/>
          </a:prstGeom>
          <a:solidFill>
            <a:srgbClr val="17A398"/>
          </a:solidFill>
          <a:ln/>
        </p:spPr>
      </p:sp>
      <p:sp>
        <p:nvSpPr>
          <p:cNvPr id="13" name="Text 10"/>
          <p:cNvSpPr/>
          <p:nvPr/>
        </p:nvSpPr>
        <p:spPr>
          <a:xfrm>
            <a:off x="6510098" y="3986784"/>
            <a:ext cx="5038774" cy="320040"/>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Sortino Ratio</a:t>
            </a:r>
            <a:endParaRPr lang="en-US" sz="1350" dirty="0"/>
          </a:p>
        </p:txBody>
      </p:sp>
      <p:sp>
        <p:nvSpPr>
          <p:cNvPr id="14" name="Text 11"/>
          <p:cNvSpPr/>
          <p:nvPr/>
        </p:nvSpPr>
        <p:spPr>
          <a:xfrm>
            <a:off x="6510098" y="4306824"/>
            <a:ext cx="5038774" cy="438912"/>
          </a:xfrm>
          <a:prstGeom prst="rect">
            <a:avLst/>
          </a:prstGeom>
          <a:noFill/>
          <a:ln/>
        </p:spPr>
        <p:txBody>
          <a:bodyPr wrap="square" lIns="0" tIns="0" rIns="0" bIns="0" rtlCol="0" anchor="t"/>
          <a:lstStyle/>
          <a:p>
            <a:pPr marL="0" indent="0">
              <a:lnSpc>
                <a:spcPct val="120000"/>
              </a:lnSpc>
              <a:buNone/>
            </a:pPr>
            <a:r>
              <a:rPr lang="en-US" sz="1100" dirty="0">
                <a:solidFill>
                  <a:srgbClr val="5B6B7A"/>
                </a:solidFill>
                <a:latin typeface="Calibri" pitchFamily="34" charset="0"/>
                <a:ea typeface="Calibri" pitchFamily="34" charset="-122"/>
                <a:cs typeface="Calibri" pitchFamily="34" charset="-120"/>
              </a:rPr>
              <a:t>Return adjusted for downside risk only.</a:t>
            </a:r>
            <a:endParaRPr lang="en-US" sz="1100" dirty="0"/>
          </a:p>
        </p:txBody>
      </p:sp>
      <p:sp>
        <p:nvSpPr>
          <p:cNvPr id="15" name="Shape 12"/>
          <p:cNvSpPr/>
          <p:nvPr/>
        </p:nvSpPr>
        <p:spPr>
          <a:xfrm>
            <a:off x="6235778" y="4846320"/>
            <a:ext cx="100584" cy="100584"/>
          </a:xfrm>
          <a:prstGeom prst="ellipse">
            <a:avLst/>
          </a:prstGeom>
          <a:solidFill>
            <a:srgbClr val="17A398"/>
          </a:solidFill>
          <a:ln/>
        </p:spPr>
      </p:sp>
      <p:sp>
        <p:nvSpPr>
          <p:cNvPr id="16" name="Text 13"/>
          <p:cNvSpPr/>
          <p:nvPr/>
        </p:nvSpPr>
        <p:spPr>
          <a:xfrm>
            <a:off x="6510098" y="4745736"/>
            <a:ext cx="5038774" cy="320040"/>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Alpha / Beta</a:t>
            </a:r>
            <a:endParaRPr lang="en-US" sz="1350" dirty="0"/>
          </a:p>
        </p:txBody>
      </p:sp>
      <p:sp>
        <p:nvSpPr>
          <p:cNvPr id="17" name="Text 14"/>
          <p:cNvSpPr/>
          <p:nvPr/>
        </p:nvSpPr>
        <p:spPr>
          <a:xfrm>
            <a:off x="6510098" y="5065776"/>
            <a:ext cx="5038774" cy="438912"/>
          </a:xfrm>
          <a:prstGeom prst="rect">
            <a:avLst/>
          </a:prstGeom>
          <a:noFill/>
          <a:ln/>
        </p:spPr>
        <p:txBody>
          <a:bodyPr wrap="square" lIns="0" tIns="0" rIns="0" bIns="0" rtlCol="0" anchor="t"/>
          <a:lstStyle/>
          <a:p>
            <a:pPr marL="0" indent="0">
              <a:lnSpc>
                <a:spcPct val="120000"/>
              </a:lnSpc>
              <a:buNone/>
            </a:pPr>
            <a:r>
              <a:rPr lang="en-US" sz="1100" dirty="0">
                <a:solidFill>
                  <a:srgbClr val="5B6B7A"/>
                </a:solidFill>
                <a:latin typeface="Calibri" pitchFamily="34" charset="0"/>
                <a:ea typeface="Calibri" pitchFamily="34" charset="-122"/>
                <a:cs typeface="Calibri" pitchFamily="34" charset="-120"/>
              </a:rPr>
              <a:t>Excess return and market sensitivity.</a:t>
            </a:r>
            <a:endParaRPr lang="en-US" sz="1100" dirty="0"/>
          </a:p>
        </p:txBody>
      </p:sp>
      <p:sp>
        <p:nvSpPr>
          <p:cNvPr id="18" name="Shape 15"/>
          <p:cNvSpPr/>
          <p:nvPr/>
        </p:nvSpPr>
        <p:spPr>
          <a:xfrm>
            <a:off x="6235778" y="5605272"/>
            <a:ext cx="100584" cy="100584"/>
          </a:xfrm>
          <a:prstGeom prst="ellipse">
            <a:avLst/>
          </a:prstGeom>
          <a:solidFill>
            <a:srgbClr val="17A398"/>
          </a:solidFill>
          <a:ln/>
        </p:spPr>
      </p:sp>
      <p:sp>
        <p:nvSpPr>
          <p:cNvPr id="19" name="Text 16"/>
          <p:cNvSpPr/>
          <p:nvPr/>
        </p:nvSpPr>
        <p:spPr>
          <a:xfrm>
            <a:off x="6510098" y="5504688"/>
            <a:ext cx="5038774" cy="320040"/>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Max Drawdown</a:t>
            </a:r>
            <a:endParaRPr lang="en-US" sz="1350" dirty="0"/>
          </a:p>
        </p:txBody>
      </p:sp>
      <p:sp>
        <p:nvSpPr>
          <p:cNvPr id="20" name="Text 17"/>
          <p:cNvSpPr/>
          <p:nvPr/>
        </p:nvSpPr>
        <p:spPr>
          <a:xfrm>
            <a:off x="6510098" y="5824728"/>
            <a:ext cx="5038774" cy="438912"/>
          </a:xfrm>
          <a:prstGeom prst="rect">
            <a:avLst/>
          </a:prstGeom>
          <a:noFill/>
          <a:ln/>
        </p:spPr>
        <p:txBody>
          <a:bodyPr wrap="square" lIns="0" tIns="0" rIns="0" bIns="0" rtlCol="0" anchor="t"/>
          <a:lstStyle/>
          <a:p>
            <a:pPr marL="0" indent="0">
              <a:lnSpc>
                <a:spcPct val="120000"/>
              </a:lnSpc>
              <a:buNone/>
            </a:pPr>
            <a:r>
              <a:rPr lang="en-US" sz="1100" dirty="0">
                <a:solidFill>
                  <a:srgbClr val="5B6B7A"/>
                </a:solidFill>
                <a:latin typeface="Calibri" pitchFamily="34" charset="0"/>
                <a:ea typeface="Calibri" pitchFamily="34" charset="-122"/>
                <a:cs typeface="Calibri" pitchFamily="34" charset="-120"/>
              </a:rPr>
              <a:t>Largest peak-to-trough decline observed.</a:t>
            </a:r>
            <a:endParaRPr lang="en-US" sz="1100" dirty="0"/>
          </a:p>
        </p:txBody>
      </p:sp>
      <p:sp>
        <p:nvSpPr>
          <p:cNvPr id="21" name="Text 18"/>
          <p:cNvSpPr/>
          <p:nvPr/>
        </p:nvSpPr>
        <p:spPr>
          <a:xfrm>
            <a:off x="640080" y="6400800"/>
            <a:ext cx="7315200" cy="274320"/>
          </a:xfrm>
          <a:prstGeom prst="rect">
            <a:avLst/>
          </a:prstGeom>
          <a:noFill/>
          <a:ln/>
        </p:spPr>
        <p:txBody>
          <a:bodyPr wrap="square" lIns="0" tIns="0" rIns="0" bIns="0" rtlCol="0" anchor="ctr"/>
          <a:lstStyle/>
          <a:p>
            <a:pPr marL="0" indent="0">
              <a:buNone/>
            </a:pPr>
            <a:r>
              <a:rPr lang="en-US" sz="900" dirty="0">
                <a:solidFill>
                  <a:srgbClr val="5B6B7A"/>
                </a:solidFill>
                <a:latin typeface="Calibri" pitchFamily="34" charset="0"/>
                <a:ea typeface="Calibri" pitchFamily="34" charset="-122"/>
                <a:cs typeface="Calibri" pitchFamily="34" charset="-120"/>
              </a:rPr>
              <a:t>Mutual Fund Analytics  |  Bluestock FinTech Internship</a:t>
            </a:r>
            <a:endParaRPr lang="en-US" sz="900" dirty="0"/>
          </a:p>
        </p:txBody>
      </p:sp>
      <p:sp>
        <p:nvSpPr>
          <p:cNvPr id="22" name="Text 19"/>
          <p:cNvSpPr/>
          <p:nvPr/>
        </p:nvSpPr>
        <p:spPr>
          <a:xfrm>
            <a:off x="11091672" y="6400800"/>
            <a:ext cx="457200" cy="274320"/>
          </a:xfrm>
          <a:prstGeom prst="rect">
            <a:avLst/>
          </a:prstGeom>
          <a:noFill/>
          <a:ln/>
        </p:spPr>
        <p:txBody>
          <a:bodyPr wrap="square" lIns="0" tIns="0" rIns="0" bIns="0" rtlCol="0" anchor="ctr"/>
          <a:lstStyle/>
          <a:p>
            <a:pPr marL="0" indent="0" algn="r">
              <a:buNone/>
            </a:pPr>
            <a:r>
              <a:rPr lang="en-US" sz="900" dirty="0">
                <a:solidFill>
                  <a:srgbClr val="5B6B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822960"/>
          </a:xfrm>
          <a:prstGeom prst="rect">
            <a:avLst/>
          </a:prstGeom>
          <a:noFill/>
          <a:ln/>
        </p:spPr>
        <p:txBody>
          <a:bodyPr wrap="square" lIns="0" tIns="0" rIns="0" bIns="0" rtlCol="0" anchor="ctr"/>
          <a:lstStyle/>
          <a:p>
            <a:pPr marL="0" indent="0" algn="l">
              <a:buNone/>
            </a:pPr>
            <a:r>
              <a:rPr lang="en-US" sz="3200" b="1" dirty="0">
                <a:solidFill>
                  <a:srgbClr val="0B2545"/>
                </a:solidFill>
                <a:latin typeface="Cambria" pitchFamily="34" charset="0"/>
                <a:ea typeface="Cambria" pitchFamily="34" charset="-122"/>
                <a:cs typeface="Cambria" pitchFamily="34" charset="-120"/>
              </a:rPr>
              <a:t>Power BI Dashboard</a:t>
            </a:r>
            <a:endParaRPr lang="en-US" sz="3200" dirty="0"/>
          </a:p>
        </p:txBody>
      </p:sp>
      <p:sp>
        <p:nvSpPr>
          <p:cNvPr id="3" name="Text 1"/>
          <p:cNvSpPr/>
          <p:nvPr/>
        </p:nvSpPr>
        <p:spPr>
          <a:xfrm>
            <a:off x="640080" y="1508760"/>
            <a:ext cx="10908792" cy="1005840"/>
          </a:xfrm>
          <a:prstGeom prst="rect">
            <a:avLst/>
          </a:prstGeom>
          <a:noFill/>
          <a:ln/>
        </p:spPr>
        <p:txBody>
          <a:bodyPr wrap="square" lIns="0" tIns="0" rIns="0" bIns="0" rtlCol="0" anchor="t"/>
          <a:lstStyle/>
          <a:p>
            <a:pPr marL="0" indent="0">
              <a:lnSpc>
                <a:spcPct val="130000"/>
              </a:lnSpc>
              <a:buNone/>
            </a:pPr>
            <a:r>
              <a:rPr lang="en-US" sz="1500" dirty="0">
                <a:solidFill>
                  <a:srgbClr val="2B3A4A"/>
                </a:solidFill>
                <a:latin typeface="Calibri" pitchFamily="34" charset="0"/>
                <a:ea typeface="Calibri" pitchFamily="34" charset="-122"/>
                <a:cs typeface="Calibri" pitchFamily="34" charset="-120"/>
              </a:rPr>
              <a:t>Results were pushed into Power BI where KPI cards, NAV trends, state and age-group analyses, and fund comparisons were implemented with interactive slicers.</a:t>
            </a:r>
            <a:endParaRPr lang="en-US" sz="1500" dirty="0"/>
          </a:p>
        </p:txBody>
      </p:sp>
      <p:sp>
        <p:nvSpPr>
          <p:cNvPr id="4" name="Shape 2"/>
          <p:cNvSpPr/>
          <p:nvPr/>
        </p:nvSpPr>
        <p:spPr>
          <a:xfrm>
            <a:off x="640080" y="2697480"/>
            <a:ext cx="2487168" cy="1737360"/>
          </a:xfrm>
          <a:prstGeom prst="roundRect">
            <a:avLst>
              <a:gd name="adj" fmla="val 4211"/>
            </a:avLst>
          </a:prstGeom>
          <a:solidFill>
            <a:srgbClr val="F4F7F9"/>
          </a:solidFill>
          <a:ln w="12700">
            <a:solidFill>
              <a:srgbClr val="E1E7EC"/>
            </a:solidFill>
            <a:prstDash val="solid"/>
          </a:ln>
          <a:effectLst>
            <a:outerShdw blurRad="101600" dist="38100" dir="5400000" algn="bl" rotWithShape="0">
              <a:srgbClr val="1B2A38">
                <a:alpha val="8000"/>
              </a:srgbClr>
            </a:outerShdw>
          </a:effectLst>
        </p:spPr>
      </p:sp>
      <p:pic>
        <p:nvPicPr>
          <p:cNvPr id="5" name="Image 0" descr="preencoded.png"/>
          <p:cNvPicPr>
            <a:picLocks noChangeAspect="1"/>
          </p:cNvPicPr>
          <p:nvPr/>
        </p:nvPicPr>
        <p:blipFill>
          <a:blip r:embed="rId3"/>
          <a:stretch>
            <a:fillRect/>
          </a:stretch>
        </p:blipFill>
        <p:spPr>
          <a:xfrm>
            <a:off x="868680" y="2926080"/>
            <a:ext cx="365760" cy="365760"/>
          </a:xfrm>
          <a:prstGeom prst="rect">
            <a:avLst/>
          </a:prstGeom>
        </p:spPr>
      </p:pic>
      <p:sp>
        <p:nvSpPr>
          <p:cNvPr id="6" name="Text 3"/>
          <p:cNvSpPr/>
          <p:nvPr/>
        </p:nvSpPr>
        <p:spPr>
          <a:xfrm>
            <a:off x="868680" y="3383280"/>
            <a:ext cx="2029968" cy="365760"/>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KPI Cards</a:t>
            </a:r>
            <a:endParaRPr lang="en-US" sz="1250" dirty="0"/>
          </a:p>
        </p:txBody>
      </p:sp>
      <p:sp>
        <p:nvSpPr>
          <p:cNvPr id="7" name="Text 4"/>
          <p:cNvSpPr/>
          <p:nvPr/>
        </p:nvSpPr>
        <p:spPr>
          <a:xfrm>
            <a:off x="868680" y="3730752"/>
            <a:ext cx="2029968" cy="640080"/>
          </a:xfrm>
          <a:prstGeom prst="rect">
            <a:avLst/>
          </a:prstGeom>
          <a:noFill/>
          <a:ln/>
        </p:spPr>
        <p:txBody>
          <a:bodyPr wrap="square" lIns="0" tIns="0" rIns="0" bIns="0" rtlCol="0" anchor="t"/>
          <a:lstStyle/>
          <a:p>
            <a:pPr marL="0" indent="0">
              <a:lnSpc>
                <a:spcPct val="120000"/>
              </a:lnSpc>
              <a:buNone/>
            </a:pPr>
            <a:r>
              <a:rPr lang="en-US" sz="1050" dirty="0">
                <a:solidFill>
                  <a:srgbClr val="5B6B7A"/>
                </a:solidFill>
                <a:latin typeface="Calibri" pitchFamily="34" charset="0"/>
                <a:ea typeface="Calibri" pitchFamily="34" charset="-122"/>
                <a:cs typeface="Calibri" pitchFamily="34" charset="-120"/>
              </a:rPr>
              <a:t>Quick-glance summary metrics at the top of the dashboard.</a:t>
            </a:r>
            <a:endParaRPr lang="en-US" sz="1050" dirty="0"/>
          </a:p>
        </p:txBody>
      </p:sp>
      <p:sp>
        <p:nvSpPr>
          <p:cNvPr id="8" name="Shape 5"/>
          <p:cNvSpPr/>
          <p:nvPr/>
        </p:nvSpPr>
        <p:spPr>
          <a:xfrm>
            <a:off x="3447288" y="2697480"/>
            <a:ext cx="2487168" cy="1737360"/>
          </a:xfrm>
          <a:prstGeom prst="roundRect">
            <a:avLst>
              <a:gd name="adj" fmla="val 4211"/>
            </a:avLst>
          </a:prstGeom>
          <a:solidFill>
            <a:srgbClr val="F4F7F9"/>
          </a:solidFill>
          <a:ln w="12700">
            <a:solidFill>
              <a:srgbClr val="E1E7EC"/>
            </a:solidFill>
            <a:prstDash val="solid"/>
          </a:ln>
          <a:effectLst>
            <a:outerShdw blurRad="101600" dist="38100" dir="5400000" algn="bl" rotWithShape="0">
              <a:srgbClr val="1B2A38">
                <a:alpha val="8000"/>
              </a:srgbClr>
            </a:outerShdw>
          </a:effectLst>
        </p:spPr>
      </p:sp>
      <p:pic>
        <p:nvPicPr>
          <p:cNvPr id="9" name="Image 1" descr="preencoded.png"/>
          <p:cNvPicPr>
            <a:picLocks noChangeAspect="1"/>
          </p:cNvPicPr>
          <p:nvPr/>
        </p:nvPicPr>
        <p:blipFill>
          <a:blip r:embed="rId4"/>
          <a:stretch>
            <a:fillRect/>
          </a:stretch>
        </p:blipFill>
        <p:spPr>
          <a:xfrm>
            <a:off x="3675888" y="2926080"/>
            <a:ext cx="365760" cy="365760"/>
          </a:xfrm>
          <a:prstGeom prst="rect">
            <a:avLst/>
          </a:prstGeom>
        </p:spPr>
      </p:pic>
      <p:sp>
        <p:nvSpPr>
          <p:cNvPr id="10" name="Text 6"/>
          <p:cNvSpPr/>
          <p:nvPr/>
        </p:nvSpPr>
        <p:spPr>
          <a:xfrm>
            <a:off x="3675888" y="3383280"/>
            <a:ext cx="2029968" cy="365760"/>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NAV Trends</a:t>
            </a:r>
            <a:endParaRPr lang="en-US" sz="1250" dirty="0"/>
          </a:p>
        </p:txBody>
      </p:sp>
      <p:sp>
        <p:nvSpPr>
          <p:cNvPr id="11" name="Text 7"/>
          <p:cNvSpPr/>
          <p:nvPr/>
        </p:nvSpPr>
        <p:spPr>
          <a:xfrm>
            <a:off x="3675888" y="3730752"/>
            <a:ext cx="2029968" cy="640080"/>
          </a:xfrm>
          <a:prstGeom prst="rect">
            <a:avLst/>
          </a:prstGeom>
          <a:noFill/>
          <a:ln/>
        </p:spPr>
        <p:txBody>
          <a:bodyPr wrap="square" lIns="0" tIns="0" rIns="0" bIns="0" rtlCol="0" anchor="t"/>
          <a:lstStyle/>
          <a:p>
            <a:pPr marL="0" indent="0">
              <a:lnSpc>
                <a:spcPct val="120000"/>
              </a:lnSpc>
              <a:buNone/>
            </a:pPr>
            <a:r>
              <a:rPr lang="en-US" sz="1050" dirty="0">
                <a:solidFill>
                  <a:srgbClr val="5B6B7A"/>
                </a:solidFill>
                <a:latin typeface="Calibri" pitchFamily="34" charset="0"/>
                <a:ea typeface="Calibri" pitchFamily="34" charset="-122"/>
                <a:cs typeface="Calibri" pitchFamily="34" charset="-120"/>
              </a:rPr>
              <a:t>Time-series view of NAV movement across funds.</a:t>
            </a:r>
            <a:endParaRPr lang="en-US" sz="1050" dirty="0"/>
          </a:p>
        </p:txBody>
      </p:sp>
      <p:sp>
        <p:nvSpPr>
          <p:cNvPr id="12" name="Shape 8"/>
          <p:cNvSpPr/>
          <p:nvPr/>
        </p:nvSpPr>
        <p:spPr>
          <a:xfrm>
            <a:off x="6254496" y="2697480"/>
            <a:ext cx="2487168" cy="1737360"/>
          </a:xfrm>
          <a:prstGeom prst="roundRect">
            <a:avLst>
              <a:gd name="adj" fmla="val 4211"/>
            </a:avLst>
          </a:prstGeom>
          <a:solidFill>
            <a:srgbClr val="F4F7F9"/>
          </a:solidFill>
          <a:ln w="12700">
            <a:solidFill>
              <a:srgbClr val="E1E7EC"/>
            </a:solidFill>
            <a:prstDash val="solid"/>
          </a:ln>
          <a:effectLst>
            <a:outerShdw blurRad="101600" dist="38100" dir="5400000" algn="bl" rotWithShape="0">
              <a:srgbClr val="1B2A38">
                <a:alpha val="8000"/>
              </a:srgbClr>
            </a:outerShdw>
          </a:effectLst>
        </p:spPr>
      </p:sp>
      <p:pic>
        <p:nvPicPr>
          <p:cNvPr id="13" name="Image 2" descr="preencoded.png"/>
          <p:cNvPicPr>
            <a:picLocks noChangeAspect="1"/>
          </p:cNvPicPr>
          <p:nvPr/>
        </p:nvPicPr>
        <p:blipFill>
          <a:blip r:embed="rId5"/>
          <a:stretch>
            <a:fillRect/>
          </a:stretch>
        </p:blipFill>
        <p:spPr>
          <a:xfrm>
            <a:off x="6483096" y="2926080"/>
            <a:ext cx="365760" cy="365760"/>
          </a:xfrm>
          <a:prstGeom prst="rect">
            <a:avLst/>
          </a:prstGeom>
        </p:spPr>
      </p:pic>
      <p:sp>
        <p:nvSpPr>
          <p:cNvPr id="14" name="Text 9"/>
          <p:cNvSpPr/>
          <p:nvPr/>
        </p:nvSpPr>
        <p:spPr>
          <a:xfrm>
            <a:off x="6483096" y="3383280"/>
            <a:ext cx="2029968" cy="365760"/>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State &amp; Age-Group Analysis</a:t>
            </a:r>
            <a:endParaRPr lang="en-US" sz="1250" dirty="0"/>
          </a:p>
        </p:txBody>
      </p:sp>
      <p:sp>
        <p:nvSpPr>
          <p:cNvPr id="15" name="Text 10"/>
          <p:cNvSpPr/>
          <p:nvPr/>
        </p:nvSpPr>
        <p:spPr>
          <a:xfrm>
            <a:off x="6483096" y="3730752"/>
            <a:ext cx="2029968" cy="640080"/>
          </a:xfrm>
          <a:prstGeom prst="rect">
            <a:avLst/>
          </a:prstGeom>
          <a:noFill/>
          <a:ln/>
        </p:spPr>
        <p:txBody>
          <a:bodyPr wrap="square" lIns="0" tIns="0" rIns="0" bIns="0" rtlCol="0" anchor="t"/>
          <a:lstStyle/>
          <a:p>
            <a:pPr marL="0" indent="0">
              <a:lnSpc>
                <a:spcPct val="120000"/>
              </a:lnSpc>
              <a:buNone/>
            </a:pPr>
            <a:r>
              <a:rPr lang="en-US" sz="1050" dirty="0">
                <a:solidFill>
                  <a:srgbClr val="5B6B7A"/>
                </a:solidFill>
                <a:latin typeface="Calibri" pitchFamily="34" charset="0"/>
                <a:ea typeface="Calibri" pitchFamily="34" charset="-122"/>
                <a:cs typeface="Calibri" pitchFamily="34" charset="-120"/>
              </a:rPr>
              <a:t>Investment breakdowns by geography and investor age.</a:t>
            </a:r>
            <a:endParaRPr lang="en-US" sz="1050" dirty="0"/>
          </a:p>
        </p:txBody>
      </p:sp>
      <p:sp>
        <p:nvSpPr>
          <p:cNvPr id="16" name="Shape 11"/>
          <p:cNvSpPr/>
          <p:nvPr/>
        </p:nvSpPr>
        <p:spPr>
          <a:xfrm>
            <a:off x="9061704" y="2697480"/>
            <a:ext cx="2487168" cy="1737360"/>
          </a:xfrm>
          <a:prstGeom prst="roundRect">
            <a:avLst>
              <a:gd name="adj" fmla="val 4211"/>
            </a:avLst>
          </a:prstGeom>
          <a:solidFill>
            <a:srgbClr val="F4F7F9"/>
          </a:solidFill>
          <a:ln w="12700">
            <a:solidFill>
              <a:srgbClr val="E1E7EC"/>
            </a:solidFill>
            <a:prstDash val="solid"/>
          </a:ln>
          <a:effectLst>
            <a:outerShdw blurRad="101600" dist="38100" dir="5400000" algn="bl" rotWithShape="0">
              <a:srgbClr val="1B2A38">
                <a:alpha val="8000"/>
              </a:srgbClr>
            </a:outerShdw>
          </a:effectLst>
        </p:spPr>
      </p:sp>
      <p:pic>
        <p:nvPicPr>
          <p:cNvPr id="17" name="Image 3" descr="preencoded.png"/>
          <p:cNvPicPr>
            <a:picLocks noChangeAspect="1"/>
          </p:cNvPicPr>
          <p:nvPr/>
        </p:nvPicPr>
        <p:blipFill>
          <a:blip r:embed="rId6"/>
          <a:stretch>
            <a:fillRect/>
          </a:stretch>
        </p:blipFill>
        <p:spPr>
          <a:xfrm>
            <a:off x="9290304" y="2926080"/>
            <a:ext cx="365760" cy="365760"/>
          </a:xfrm>
          <a:prstGeom prst="rect">
            <a:avLst/>
          </a:prstGeom>
        </p:spPr>
      </p:pic>
      <p:sp>
        <p:nvSpPr>
          <p:cNvPr id="18" name="Text 12"/>
          <p:cNvSpPr/>
          <p:nvPr/>
        </p:nvSpPr>
        <p:spPr>
          <a:xfrm>
            <a:off x="9290304" y="3383280"/>
            <a:ext cx="2029968" cy="365760"/>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Fund Comparisons</a:t>
            </a:r>
            <a:endParaRPr lang="en-US" sz="1250" dirty="0"/>
          </a:p>
        </p:txBody>
      </p:sp>
      <p:sp>
        <p:nvSpPr>
          <p:cNvPr id="19" name="Text 13"/>
          <p:cNvSpPr/>
          <p:nvPr/>
        </p:nvSpPr>
        <p:spPr>
          <a:xfrm>
            <a:off x="9290304" y="3730752"/>
            <a:ext cx="2029968" cy="640080"/>
          </a:xfrm>
          <a:prstGeom prst="rect">
            <a:avLst/>
          </a:prstGeom>
          <a:noFill/>
          <a:ln/>
        </p:spPr>
        <p:txBody>
          <a:bodyPr wrap="square" lIns="0" tIns="0" rIns="0" bIns="0" rtlCol="0" anchor="t"/>
          <a:lstStyle/>
          <a:p>
            <a:pPr marL="0" indent="0">
              <a:lnSpc>
                <a:spcPct val="120000"/>
              </a:lnSpc>
              <a:buNone/>
            </a:pPr>
            <a:r>
              <a:rPr lang="en-US" sz="1050" dirty="0">
                <a:solidFill>
                  <a:srgbClr val="5B6B7A"/>
                </a:solidFill>
                <a:latin typeface="Calibri" pitchFamily="34" charset="0"/>
                <a:ea typeface="Calibri" pitchFamily="34" charset="-122"/>
                <a:cs typeface="Calibri" pitchFamily="34" charset="-120"/>
              </a:rPr>
              <a:t>Side-by-side comparison with interactive slicers.</a:t>
            </a:r>
            <a:endParaRPr lang="en-US" sz="1050" dirty="0"/>
          </a:p>
        </p:txBody>
      </p:sp>
      <p:pic>
        <p:nvPicPr>
          <p:cNvPr id="21" name="Image 4" descr="preencoded.png"/>
          <p:cNvPicPr>
            <a:picLocks noChangeAspect="1"/>
          </p:cNvPicPr>
          <p:nvPr/>
        </p:nvPicPr>
        <p:blipFill>
          <a:blip r:embed="rId7"/>
          <a:stretch>
            <a:fillRect/>
          </a:stretch>
        </p:blipFill>
        <p:spPr>
          <a:xfrm>
            <a:off x="960120" y="4983480"/>
            <a:ext cx="411480" cy="411480"/>
          </a:xfrm>
          <a:prstGeom prst="rect">
            <a:avLst/>
          </a:prstGeom>
        </p:spPr>
      </p:pic>
      <p:sp>
        <p:nvSpPr>
          <p:cNvPr id="22" name="Text 15"/>
          <p:cNvSpPr/>
          <p:nvPr/>
        </p:nvSpPr>
        <p:spPr>
          <a:xfrm>
            <a:off x="1554480" y="4709160"/>
            <a:ext cx="9765792" cy="1005840"/>
          </a:xfrm>
          <a:prstGeom prst="rect">
            <a:avLst/>
          </a:prstGeom>
          <a:noFill/>
          <a:ln/>
        </p:spPr>
        <p:txBody>
          <a:bodyPr wrap="square" lIns="0" tIns="0" rIns="0" bIns="0" rtlCol="0" anchor="ctr"/>
          <a:lstStyle/>
          <a:p>
            <a:pPr marL="0" indent="0">
              <a:buNone/>
            </a:pPr>
            <a:endParaRPr lang="en-US" sz="1300" dirty="0"/>
          </a:p>
        </p:txBody>
      </p:sp>
      <p:sp>
        <p:nvSpPr>
          <p:cNvPr id="23" name="Text 16"/>
          <p:cNvSpPr/>
          <p:nvPr/>
        </p:nvSpPr>
        <p:spPr>
          <a:xfrm>
            <a:off x="640080" y="6400800"/>
            <a:ext cx="7315200" cy="274320"/>
          </a:xfrm>
          <a:prstGeom prst="rect">
            <a:avLst/>
          </a:prstGeom>
          <a:noFill/>
          <a:ln/>
        </p:spPr>
        <p:txBody>
          <a:bodyPr wrap="square" lIns="0" tIns="0" rIns="0" bIns="0" rtlCol="0" anchor="ctr"/>
          <a:lstStyle/>
          <a:p>
            <a:pPr marL="0" indent="0">
              <a:buNone/>
            </a:pPr>
            <a:r>
              <a:rPr lang="en-US" sz="900" dirty="0">
                <a:solidFill>
                  <a:srgbClr val="5B6B7A"/>
                </a:solidFill>
                <a:latin typeface="Calibri" pitchFamily="34" charset="0"/>
                <a:ea typeface="Calibri" pitchFamily="34" charset="-122"/>
                <a:cs typeface="Calibri" pitchFamily="34" charset="-120"/>
              </a:rPr>
              <a:t>Mutual Fund Analytics  |  Bluestock FinTech Internship</a:t>
            </a:r>
            <a:endParaRPr lang="en-US" sz="900" dirty="0"/>
          </a:p>
        </p:txBody>
      </p:sp>
      <p:sp>
        <p:nvSpPr>
          <p:cNvPr id="24" name="Text 17"/>
          <p:cNvSpPr/>
          <p:nvPr/>
        </p:nvSpPr>
        <p:spPr>
          <a:xfrm>
            <a:off x="11091672" y="6400800"/>
            <a:ext cx="457200" cy="274320"/>
          </a:xfrm>
          <a:prstGeom prst="rect">
            <a:avLst/>
          </a:prstGeom>
          <a:noFill/>
          <a:ln/>
        </p:spPr>
        <p:txBody>
          <a:bodyPr wrap="square" lIns="0" tIns="0" rIns="0" bIns="0" rtlCol="0" anchor="ctr"/>
          <a:lstStyle/>
          <a:p>
            <a:pPr marL="0" indent="0" algn="r">
              <a:buNone/>
            </a:pPr>
            <a:r>
              <a:rPr lang="en-US" sz="900" dirty="0">
                <a:solidFill>
                  <a:srgbClr val="5B6B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822960"/>
          </a:xfrm>
          <a:prstGeom prst="rect">
            <a:avLst/>
          </a:prstGeom>
          <a:noFill/>
          <a:ln/>
        </p:spPr>
        <p:txBody>
          <a:bodyPr wrap="square" lIns="0" tIns="0" rIns="0" bIns="0" rtlCol="0" anchor="ctr"/>
          <a:lstStyle/>
          <a:p>
            <a:pPr marL="0" indent="0" algn="l">
              <a:buNone/>
            </a:pPr>
            <a:r>
              <a:rPr lang="en-US" sz="3200" b="1" dirty="0">
                <a:solidFill>
                  <a:srgbClr val="0B2545"/>
                </a:solidFill>
                <a:latin typeface="Cambria" pitchFamily="34" charset="0"/>
                <a:ea typeface="Cambria" pitchFamily="34" charset="-122"/>
                <a:cs typeface="Cambria" pitchFamily="34" charset="-120"/>
              </a:rPr>
              <a:t>Power BI Dashboard </a:t>
            </a:r>
            <a:endParaRPr lang="en-US" sz="3200" dirty="0"/>
          </a:p>
        </p:txBody>
      </p:sp>
      <p:sp>
        <p:nvSpPr>
          <p:cNvPr id="3" name="Shape 1"/>
          <p:cNvSpPr/>
          <p:nvPr/>
        </p:nvSpPr>
        <p:spPr>
          <a:xfrm>
            <a:off x="601889" y="1307592"/>
            <a:ext cx="5245967" cy="2221992"/>
          </a:xfrm>
          <a:prstGeom prst="roundRect">
            <a:avLst>
              <a:gd name="adj" fmla="val 2521"/>
            </a:avLst>
          </a:prstGeom>
          <a:solidFill>
            <a:srgbClr val="FFFFFF"/>
          </a:solidFill>
          <a:ln w="12700">
            <a:solidFill>
              <a:srgbClr val="E1E7EC"/>
            </a:solidFill>
            <a:prstDash val="solid"/>
          </a:ln>
          <a:effectLst>
            <a:outerShdw blurRad="101600" dist="38100" dir="5400000" algn="bl" rotWithShape="0">
              <a:srgbClr val="1B2A38">
                <a:alpha val="10000"/>
              </a:srgbClr>
            </a:outerShdw>
          </a:effectLst>
        </p:spPr>
      </p:sp>
      <p:pic>
        <p:nvPicPr>
          <p:cNvPr id="4" name="Image 0" descr="/mnt/user-data/uploads/1783452642133__755DDCED-8EBC-44B4-A71B-0B510F70795B_.png"/>
          <p:cNvPicPr>
            <a:picLocks noChangeAspect="1"/>
          </p:cNvPicPr>
          <p:nvPr/>
        </p:nvPicPr>
        <p:blipFill>
          <a:blip r:embed="rId3"/>
          <a:stretch>
            <a:fillRect/>
          </a:stretch>
        </p:blipFill>
        <p:spPr>
          <a:xfrm>
            <a:off x="690908" y="1380744"/>
            <a:ext cx="5067927" cy="2075688"/>
          </a:xfrm>
          <a:prstGeom prst="rect">
            <a:avLst/>
          </a:prstGeom>
        </p:spPr>
      </p:pic>
      <p:sp>
        <p:nvSpPr>
          <p:cNvPr id="5" name="Text 2"/>
          <p:cNvSpPr/>
          <p:nvPr/>
        </p:nvSpPr>
        <p:spPr>
          <a:xfrm>
            <a:off x="1452103" y="3483864"/>
            <a:ext cx="3545538" cy="292608"/>
          </a:xfrm>
          <a:prstGeom prst="rect">
            <a:avLst/>
          </a:prstGeom>
          <a:noFill/>
          <a:ln/>
        </p:spPr>
        <p:txBody>
          <a:bodyPr wrap="square" lIns="0" tIns="0" rIns="0" bIns="0" rtlCol="0" anchor="ctr"/>
          <a:lstStyle/>
          <a:p>
            <a:pPr marL="0" indent="0" algn="ctr">
              <a:buNone/>
            </a:pPr>
            <a:r>
              <a:rPr lang="en-US" sz="1250" b="1" dirty="0">
                <a:solidFill>
                  <a:srgbClr val="0B2545"/>
                </a:solidFill>
                <a:latin typeface="Calibri" pitchFamily="34" charset="0"/>
                <a:ea typeface="Calibri" pitchFamily="34" charset="-122"/>
                <a:cs typeface="Calibri" pitchFamily="34" charset="-120"/>
              </a:rPr>
              <a:t>KPI Overview</a:t>
            </a:r>
            <a:endParaRPr lang="en-US" sz="1250" dirty="0"/>
          </a:p>
        </p:txBody>
      </p:sp>
      <p:sp>
        <p:nvSpPr>
          <p:cNvPr id="6" name="Shape 3"/>
          <p:cNvSpPr/>
          <p:nvPr/>
        </p:nvSpPr>
        <p:spPr>
          <a:xfrm>
            <a:off x="6163056" y="1307592"/>
            <a:ext cx="5576226" cy="2221992"/>
          </a:xfrm>
          <a:prstGeom prst="roundRect">
            <a:avLst>
              <a:gd name="adj" fmla="val 2521"/>
            </a:avLst>
          </a:prstGeom>
          <a:solidFill>
            <a:srgbClr val="FFFFFF"/>
          </a:solidFill>
          <a:ln w="12700">
            <a:solidFill>
              <a:srgbClr val="E1E7EC"/>
            </a:solidFill>
            <a:prstDash val="solid"/>
          </a:ln>
          <a:effectLst>
            <a:outerShdw blurRad="101600" dist="38100" dir="5400000" algn="bl" rotWithShape="0">
              <a:srgbClr val="1B2A38">
                <a:alpha val="10000"/>
              </a:srgbClr>
            </a:outerShdw>
          </a:effectLst>
        </p:spPr>
      </p:sp>
      <p:pic>
        <p:nvPicPr>
          <p:cNvPr id="7" name="Image 1" descr="/mnt/user-data/uploads/1783452683723__9504E101-68C5-40D3-A71C-689860AC8AF0_.png"/>
          <p:cNvPicPr>
            <a:picLocks noChangeAspect="1"/>
          </p:cNvPicPr>
          <p:nvPr/>
        </p:nvPicPr>
        <p:blipFill>
          <a:blip r:embed="rId4"/>
          <a:stretch>
            <a:fillRect/>
          </a:stretch>
        </p:blipFill>
        <p:spPr>
          <a:xfrm>
            <a:off x="6239435" y="1380744"/>
            <a:ext cx="5405717" cy="2075688"/>
          </a:xfrm>
          <a:prstGeom prst="rect">
            <a:avLst/>
          </a:prstGeom>
        </p:spPr>
      </p:pic>
      <p:sp>
        <p:nvSpPr>
          <p:cNvPr id="8" name="Text 4"/>
          <p:cNvSpPr/>
          <p:nvPr/>
        </p:nvSpPr>
        <p:spPr>
          <a:xfrm>
            <a:off x="7194361" y="3483864"/>
            <a:ext cx="3545538" cy="292608"/>
          </a:xfrm>
          <a:prstGeom prst="rect">
            <a:avLst/>
          </a:prstGeom>
          <a:noFill/>
          <a:ln/>
        </p:spPr>
        <p:txBody>
          <a:bodyPr wrap="square" lIns="0" tIns="0" rIns="0" bIns="0" rtlCol="0" anchor="ctr"/>
          <a:lstStyle/>
          <a:p>
            <a:pPr marL="0" indent="0" algn="ctr">
              <a:buNone/>
            </a:pPr>
            <a:r>
              <a:rPr lang="en-US" sz="1250" b="1" dirty="0">
                <a:solidFill>
                  <a:srgbClr val="0B2545"/>
                </a:solidFill>
                <a:latin typeface="Calibri" pitchFamily="34" charset="0"/>
                <a:ea typeface="Calibri" pitchFamily="34" charset="-122"/>
                <a:cs typeface="Calibri" pitchFamily="34" charset="-120"/>
              </a:rPr>
              <a:t>Fund Performance</a:t>
            </a:r>
            <a:endParaRPr lang="en-US" sz="1250" dirty="0"/>
          </a:p>
        </p:txBody>
      </p:sp>
      <p:sp>
        <p:nvSpPr>
          <p:cNvPr id="9" name="Shape 5"/>
          <p:cNvSpPr/>
          <p:nvPr/>
        </p:nvSpPr>
        <p:spPr>
          <a:xfrm>
            <a:off x="601889" y="3831336"/>
            <a:ext cx="5245967" cy="2286000"/>
          </a:xfrm>
          <a:prstGeom prst="roundRect">
            <a:avLst>
              <a:gd name="adj" fmla="val 2521"/>
            </a:avLst>
          </a:prstGeom>
          <a:solidFill>
            <a:srgbClr val="FFFFFF"/>
          </a:solidFill>
          <a:ln w="12700">
            <a:solidFill>
              <a:srgbClr val="E1E7EC"/>
            </a:solidFill>
            <a:prstDash val="solid"/>
          </a:ln>
          <a:effectLst>
            <a:outerShdw blurRad="101600" dist="38100" dir="5400000" algn="bl" rotWithShape="0">
              <a:srgbClr val="1B2A38">
                <a:alpha val="10000"/>
              </a:srgbClr>
            </a:outerShdw>
          </a:effectLst>
        </p:spPr>
      </p:sp>
      <p:pic>
        <p:nvPicPr>
          <p:cNvPr id="10" name="Image 2" descr="/mnt/user-data/uploads/1783452782681__1E409CAF-600A-404C-9600-212844E44F16_.png"/>
          <p:cNvPicPr>
            <a:picLocks noChangeAspect="1"/>
          </p:cNvPicPr>
          <p:nvPr/>
        </p:nvPicPr>
        <p:blipFill>
          <a:blip r:embed="rId5"/>
          <a:stretch>
            <a:fillRect/>
          </a:stretch>
        </p:blipFill>
        <p:spPr>
          <a:xfrm>
            <a:off x="640079" y="3947922"/>
            <a:ext cx="5118755" cy="2084832"/>
          </a:xfrm>
          <a:prstGeom prst="rect">
            <a:avLst/>
          </a:prstGeom>
        </p:spPr>
      </p:pic>
      <p:sp>
        <p:nvSpPr>
          <p:cNvPr id="11" name="Text 6"/>
          <p:cNvSpPr/>
          <p:nvPr/>
        </p:nvSpPr>
        <p:spPr>
          <a:xfrm>
            <a:off x="1493879" y="6032754"/>
            <a:ext cx="3545538" cy="292608"/>
          </a:xfrm>
          <a:prstGeom prst="rect">
            <a:avLst/>
          </a:prstGeom>
          <a:noFill/>
          <a:ln/>
        </p:spPr>
        <p:txBody>
          <a:bodyPr wrap="square" lIns="0" tIns="0" rIns="0" bIns="0" rtlCol="0" anchor="ctr"/>
          <a:lstStyle/>
          <a:p>
            <a:pPr marL="0" indent="0" algn="ctr">
              <a:buNone/>
            </a:pPr>
            <a:r>
              <a:rPr lang="en-US" sz="1250" b="1" dirty="0">
                <a:solidFill>
                  <a:srgbClr val="0B2545"/>
                </a:solidFill>
                <a:latin typeface="Calibri" pitchFamily="34" charset="0"/>
                <a:ea typeface="Calibri" pitchFamily="34" charset="-122"/>
                <a:cs typeface="Calibri" pitchFamily="34" charset="-120"/>
              </a:rPr>
              <a:t>Investor Analytics</a:t>
            </a:r>
            <a:endParaRPr lang="en-US" sz="1250" dirty="0"/>
          </a:p>
        </p:txBody>
      </p:sp>
      <p:sp>
        <p:nvSpPr>
          <p:cNvPr id="12" name="Shape 7"/>
          <p:cNvSpPr/>
          <p:nvPr/>
        </p:nvSpPr>
        <p:spPr>
          <a:xfrm>
            <a:off x="6163056" y="3852044"/>
            <a:ext cx="5576226" cy="2301868"/>
          </a:xfrm>
          <a:prstGeom prst="roundRect">
            <a:avLst>
              <a:gd name="adj" fmla="val 2521"/>
            </a:avLst>
          </a:prstGeom>
          <a:solidFill>
            <a:srgbClr val="FFFFFF"/>
          </a:solidFill>
          <a:ln w="12700">
            <a:solidFill>
              <a:srgbClr val="E1E7EC"/>
            </a:solidFill>
            <a:prstDash val="solid"/>
          </a:ln>
          <a:effectLst>
            <a:outerShdw blurRad="101600" dist="38100" dir="5400000" algn="bl" rotWithShape="0">
              <a:srgbClr val="1B2A38">
                <a:alpha val="10000"/>
              </a:srgbClr>
            </a:outerShdw>
          </a:effectLst>
        </p:spPr>
      </p:sp>
      <p:pic>
        <p:nvPicPr>
          <p:cNvPr id="13" name="Image 3" descr="/mnt/user-data/uploads/1783452850757__11ADC13F-4406-494F-A963-34CE50D1A1F7_.png"/>
          <p:cNvPicPr>
            <a:picLocks noChangeAspect="1"/>
          </p:cNvPicPr>
          <p:nvPr/>
        </p:nvPicPr>
        <p:blipFill>
          <a:blip r:embed="rId6"/>
          <a:stretch>
            <a:fillRect/>
          </a:stretch>
        </p:blipFill>
        <p:spPr>
          <a:xfrm>
            <a:off x="6254496" y="3947922"/>
            <a:ext cx="5390656" cy="2114550"/>
          </a:xfrm>
          <a:prstGeom prst="rect">
            <a:avLst/>
          </a:prstGeom>
        </p:spPr>
      </p:pic>
      <p:sp>
        <p:nvSpPr>
          <p:cNvPr id="14" name="Text 8"/>
          <p:cNvSpPr/>
          <p:nvPr/>
        </p:nvSpPr>
        <p:spPr>
          <a:xfrm>
            <a:off x="7289920" y="6131052"/>
            <a:ext cx="3545538" cy="292608"/>
          </a:xfrm>
          <a:prstGeom prst="rect">
            <a:avLst/>
          </a:prstGeom>
          <a:noFill/>
          <a:ln/>
        </p:spPr>
        <p:txBody>
          <a:bodyPr wrap="square" lIns="0" tIns="0" rIns="0" bIns="0" rtlCol="0" anchor="ctr"/>
          <a:lstStyle/>
          <a:p>
            <a:pPr marL="0" indent="0" algn="ctr">
              <a:buNone/>
            </a:pPr>
            <a:r>
              <a:rPr lang="en-US" sz="1250" b="1" dirty="0">
                <a:solidFill>
                  <a:srgbClr val="0B2545"/>
                </a:solidFill>
                <a:latin typeface="Calibri" pitchFamily="34" charset="0"/>
                <a:ea typeface="Calibri" pitchFamily="34" charset="-122"/>
                <a:cs typeface="Calibri" pitchFamily="34" charset="-120"/>
              </a:rPr>
              <a:t>SIP &amp; Market Trends</a:t>
            </a:r>
            <a:endParaRPr lang="en-US" sz="1250" dirty="0"/>
          </a:p>
        </p:txBody>
      </p:sp>
      <p:sp>
        <p:nvSpPr>
          <p:cNvPr id="15" name="Text 9"/>
          <p:cNvSpPr/>
          <p:nvPr/>
        </p:nvSpPr>
        <p:spPr>
          <a:xfrm>
            <a:off x="356169" y="6384932"/>
            <a:ext cx="7315200" cy="274320"/>
          </a:xfrm>
          <a:prstGeom prst="rect">
            <a:avLst/>
          </a:prstGeom>
          <a:noFill/>
          <a:ln/>
        </p:spPr>
        <p:txBody>
          <a:bodyPr wrap="square" lIns="0" tIns="0" rIns="0" bIns="0" rtlCol="0" anchor="ctr"/>
          <a:lstStyle/>
          <a:p>
            <a:pPr marL="0" indent="0">
              <a:buNone/>
            </a:pPr>
            <a:r>
              <a:rPr lang="en-US" sz="900" dirty="0">
                <a:solidFill>
                  <a:srgbClr val="5B6B7A"/>
                </a:solidFill>
                <a:latin typeface="Calibri" pitchFamily="34" charset="0"/>
                <a:ea typeface="Calibri" pitchFamily="34" charset="-122"/>
                <a:cs typeface="Calibri" pitchFamily="34" charset="-120"/>
              </a:rPr>
              <a:t>Mutual Fund Analytics  |  Bluestock FinTech Internship</a:t>
            </a:r>
            <a:endParaRPr lang="en-US" sz="900" dirty="0"/>
          </a:p>
        </p:txBody>
      </p:sp>
      <p:sp>
        <p:nvSpPr>
          <p:cNvPr id="16" name="Text 10"/>
          <p:cNvSpPr/>
          <p:nvPr/>
        </p:nvSpPr>
        <p:spPr>
          <a:xfrm>
            <a:off x="11091672" y="6400800"/>
            <a:ext cx="457200" cy="274320"/>
          </a:xfrm>
          <a:prstGeom prst="rect">
            <a:avLst/>
          </a:prstGeom>
          <a:noFill/>
          <a:ln/>
        </p:spPr>
        <p:txBody>
          <a:bodyPr wrap="square" lIns="0" tIns="0" rIns="0" bIns="0" rtlCol="0" anchor="ctr"/>
          <a:lstStyle/>
          <a:p>
            <a:pPr marL="0" indent="0" algn="r">
              <a:buNone/>
            </a:pPr>
            <a:r>
              <a:rPr lang="en-US" sz="900" dirty="0">
                <a:solidFill>
                  <a:srgbClr val="5B6B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640080" y="640080"/>
            <a:ext cx="10908792"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Results &amp; Conclusion</a:t>
            </a:r>
            <a:endParaRPr lang="en-US" sz="3200" dirty="0"/>
          </a:p>
        </p:txBody>
      </p:sp>
      <p:sp>
        <p:nvSpPr>
          <p:cNvPr id="3" name="Shape 1"/>
          <p:cNvSpPr/>
          <p:nvPr/>
        </p:nvSpPr>
        <p:spPr>
          <a:xfrm>
            <a:off x="640080" y="1828800"/>
            <a:ext cx="10908792" cy="2286000"/>
          </a:xfrm>
          <a:prstGeom prst="roundRect">
            <a:avLst>
              <a:gd name="adj" fmla="val 4000"/>
            </a:avLst>
          </a:prstGeom>
          <a:solidFill>
            <a:srgbClr val="065A82"/>
          </a:solidFill>
          <a:ln/>
          <a:effectLst>
            <a:outerShdw blurRad="127000" dist="38100" dir="5400000" algn="bl" rotWithShape="0">
              <a:srgbClr val="000000">
                <a:alpha val="15000"/>
              </a:srgbClr>
            </a:outerShdw>
          </a:effectLst>
        </p:spPr>
      </p:sp>
      <p:pic>
        <p:nvPicPr>
          <p:cNvPr id="4" name="Image 0" descr="preencoded.png"/>
          <p:cNvPicPr>
            <a:picLocks noChangeAspect="1"/>
          </p:cNvPicPr>
          <p:nvPr/>
        </p:nvPicPr>
        <p:blipFill>
          <a:blip r:embed="rId3"/>
          <a:stretch>
            <a:fillRect/>
          </a:stretch>
        </p:blipFill>
        <p:spPr>
          <a:xfrm>
            <a:off x="1005840" y="2148840"/>
            <a:ext cx="502920" cy="502920"/>
          </a:xfrm>
          <a:prstGeom prst="rect">
            <a:avLst/>
          </a:prstGeom>
        </p:spPr>
      </p:pic>
      <p:sp>
        <p:nvSpPr>
          <p:cNvPr id="5" name="Text 2"/>
          <p:cNvSpPr/>
          <p:nvPr/>
        </p:nvSpPr>
        <p:spPr>
          <a:xfrm>
            <a:off x="1645920" y="2148840"/>
            <a:ext cx="9537192"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Final Findings</a:t>
            </a:r>
            <a:endParaRPr lang="en-US" sz="1800" dirty="0"/>
          </a:p>
        </p:txBody>
      </p:sp>
      <p:sp>
        <p:nvSpPr>
          <p:cNvPr id="6" name="Text 3"/>
          <p:cNvSpPr/>
          <p:nvPr/>
        </p:nvSpPr>
        <p:spPr>
          <a:xfrm>
            <a:off x="1645920" y="2697480"/>
            <a:ext cx="9537192" cy="1280160"/>
          </a:xfrm>
          <a:prstGeom prst="rect">
            <a:avLst/>
          </a:prstGeom>
          <a:noFill/>
          <a:ln/>
        </p:spPr>
        <p:txBody>
          <a:bodyPr wrap="square" lIns="0" tIns="0" rIns="0" bIns="0" rtlCol="0" anchor="t"/>
          <a:lstStyle/>
          <a:p>
            <a:pPr marL="0" indent="0">
              <a:lnSpc>
                <a:spcPct val="135000"/>
              </a:lnSpc>
              <a:buNone/>
            </a:pPr>
            <a:r>
              <a:rPr lang="en-US" sz="1500" dirty="0">
                <a:solidFill>
                  <a:srgbClr val="D8E6EE"/>
                </a:solidFill>
                <a:latin typeface="Calibri" pitchFamily="34" charset="0"/>
                <a:ea typeface="Calibri" pitchFamily="34" charset="-122"/>
                <a:cs typeface="Calibri" pitchFamily="34" charset="-120"/>
              </a:rPr>
              <a:t>Datasets cleaned and stored in SQLite, EDA revealed investor patterns, top funds were identified by risk-adjusted returns, and Power BI made exploration easy for users. The project shows how these tools help better investment decisions.</a:t>
            </a:r>
            <a:endParaRPr lang="en-US" sz="1500" dirty="0"/>
          </a:p>
        </p:txBody>
      </p:sp>
      <p:sp>
        <p:nvSpPr>
          <p:cNvPr id="7" name="Text 4"/>
          <p:cNvSpPr/>
          <p:nvPr/>
        </p:nvSpPr>
        <p:spPr>
          <a:xfrm>
            <a:off x="640080" y="4434840"/>
            <a:ext cx="10908792" cy="548640"/>
          </a:xfrm>
          <a:prstGeom prst="rect">
            <a:avLst/>
          </a:prstGeom>
          <a:noFill/>
          <a:ln/>
        </p:spPr>
        <p:txBody>
          <a:bodyPr wrap="square" lIns="0" tIns="0" rIns="0" bIns="0" rtlCol="0" anchor="ctr"/>
          <a:lstStyle/>
          <a:p>
            <a:pPr marL="0" indent="0">
              <a:lnSpc>
                <a:spcPct val="125000"/>
              </a:lnSpc>
              <a:buNone/>
            </a:pPr>
            <a:endParaRPr lang="en-US" sz="1050" dirty="0"/>
          </a:p>
        </p:txBody>
      </p:sp>
      <p:sp>
        <p:nvSpPr>
          <p:cNvPr id="8" name="Text 5"/>
          <p:cNvSpPr/>
          <p:nvPr/>
        </p:nvSpPr>
        <p:spPr>
          <a:xfrm>
            <a:off x="11091672" y="6400800"/>
            <a:ext cx="457200" cy="274320"/>
          </a:xfrm>
          <a:prstGeom prst="rect">
            <a:avLst/>
          </a:prstGeom>
          <a:noFill/>
          <a:ln/>
        </p:spPr>
        <p:txBody>
          <a:bodyPr wrap="square" lIns="0" tIns="0" rIns="0" bIns="0" rtlCol="0" anchor="ctr"/>
          <a:lstStyle/>
          <a:p>
            <a:pPr marL="0" indent="0" algn="r">
              <a:buNone/>
            </a:pPr>
            <a:r>
              <a:rPr lang="en-US" sz="900" dirty="0">
                <a:solidFill>
                  <a:srgbClr val="9FB4C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867</TotalTime>
  <Words>928</Words>
  <Application>Microsoft Office PowerPoint</Application>
  <PresentationFormat>Widescreen</PresentationFormat>
  <Paragraphs>154</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Mutual Fund Analytics</dc:title>
  <dc:subject>PptxGenJS Presentation</dc:subject>
  <dc:creator>ALLA LOKESH</dc:creator>
  <cp:lastModifiedBy>ALLA LOKESH</cp:lastModifiedBy>
  <cp:revision>3</cp:revision>
  <dcterms:created xsi:type="dcterms:W3CDTF">2026-07-07T19:35:32Z</dcterms:created>
  <dcterms:modified xsi:type="dcterms:W3CDTF">2026-07-08T10:05:33Z</dcterms:modified>
</cp:coreProperties>
</file>